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9144000"/>
  <p:notesSz cx="6858000" cy="9144000"/>
  <p:embeddedFontLst>
    <p:embeddedFont>
      <p:font typeface="Bodoni"/>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Bodoni-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Bodoni-italic.fntdata"/><Relationship Id="rId10" Type="http://schemas.openxmlformats.org/officeDocument/2006/relationships/slide" Target="slides/slide5.xml"/><Relationship Id="rId54" Type="http://schemas.openxmlformats.org/officeDocument/2006/relationships/font" Target="fonts/Bodoni-bold.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Bodoni-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import keyword</a:t>
            </a:r>
            <a:endParaRPr/>
          </a:p>
          <a:p>
            <a:pPr indent="0" lvl="0" marL="0" rtl="0" algn="l">
              <a:spcBef>
                <a:spcPts val="0"/>
              </a:spcBef>
              <a:spcAft>
                <a:spcPts val="0"/>
              </a:spcAft>
              <a:buNone/>
            </a:pPr>
            <a:r>
              <a:rPr lang="en-US"/>
              <a:t>print(keyword.kwlist)</a:t>
            </a:r>
            <a:endParaRPr/>
          </a:p>
          <a:p>
            <a:pPr indent="0" lvl="0" marL="0" rtl="0" algn="l">
              <a:spcBef>
                <a:spcPts val="0"/>
              </a:spcBef>
              <a:spcAft>
                <a:spcPts val="0"/>
              </a:spcAft>
              <a:buNone/>
            </a:pPr>
            <a:r>
              <a:rPr lang="en-US"/>
              <a:t>['False', 'None', 'True', 'and', 'as', 'assert', 'async', 'await', 'break', 'class', 'continue', 'def', 'del', 'elif', 'else', 'except', 'finally', 'for', 'from', 'global', 'if', 'import', 'in', 'is', 'lambda', 'nonlocal', 'not', 'or', 'pass', 'raise', 'return', 'try', 'while', 'with', 'yield']</a:t>
            </a:r>
            <a:endParaRPr/>
          </a:p>
        </p:txBody>
      </p:sp>
      <p:sp>
        <p:nvSpPr>
          <p:cNvPr id="183" name="Google Shape;18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x = True</a:t>
            </a:r>
            <a:endParaRPr/>
          </a:p>
          <a:p>
            <a:pPr indent="0" lvl="0" marL="0" rtl="0" algn="l">
              <a:spcBef>
                <a:spcPts val="0"/>
              </a:spcBef>
              <a:spcAft>
                <a:spcPts val="0"/>
              </a:spcAft>
              <a:buNone/>
            </a:pPr>
            <a:r>
              <a:rPr lang="en-US"/>
              <a:t>_x = False</a:t>
            </a:r>
            <a:endParaRPr/>
          </a:p>
          <a:p>
            <a:pPr indent="0" lvl="0" marL="0" rtl="0" algn="l">
              <a:spcBef>
                <a:spcPts val="0"/>
              </a:spcBef>
              <a:spcAft>
                <a:spcPts val="0"/>
              </a:spcAft>
              <a:buNone/>
            </a:pPr>
            <a:r>
              <a:rPr lang="en-US"/>
              <a:t>__x = True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print(x, _x, __x)</a:t>
            </a:r>
            <a:endParaRPr/>
          </a:p>
          <a:p>
            <a:pPr indent="0" lvl="0" marL="0" rtl="0" algn="l">
              <a:spcBef>
                <a:spcPts val="0"/>
              </a:spcBef>
              <a:spcAft>
                <a:spcPts val="0"/>
              </a:spcAft>
              <a:buNone/>
            </a:pPr>
            <a:r>
              <a:rPr lang="en-US"/>
              <a:t>True False True</a:t>
            </a:r>
            <a:endParaRPr/>
          </a:p>
          <a:p>
            <a:pPr indent="0" lvl="0" marL="0" rtl="0" algn="l">
              <a:spcBef>
                <a:spcPts val="0"/>
              </a:spcBef>
              <a:spcAft>
                <a:spcPts val="0"/>
              </a:spcAft>
              <a:buNone/>
            </a:pPr>
            <a:r>
              <a:t/>
            </a:r>
            <a:endParaRPr/>
          </a:p>
        </p:txBody>
      </p:sp>
      <p:sp>
        <p:nvSpPr>
          <p:cNvPr id="192" name="Google Shape;19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ภาพนิ่งชื่อเรื่อง" showMasterSp="0"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888"/>
                </a:solidFill>
                <a:latin typeface="Calibri"/>
                <a:ea typeface="Calibri"/>
                <a:cs typeface="Calibri"/>
                <a:sym typeface="Calibri"/>
              </a:defRPr>
            </a:lvl1pPr>
            <a:lvl2pPr indent="0" lvl="1" marL="0" algn="r">
              <a:spcBef>
                <a:spcPts val="0"/>
              </a:spcBef>
              <a:buNone/>
              <a:defRPr b="0" i="0" sz="1200" u="none" cap="none" strike="noStrike">
                <a:solidFill>
                  <a:srgbClr val="888888"/>
                </a:solidFill>
                <a:latin typeface="Calibri"/>
                <a:ea typeface="Calibri"/>
                <a:cs typeface="Calibri"/>
                <a:sym typeface="Calibri"/>
              </a:defRPr>
            </a:lvl2pPr>
            <a:lvl3pPr indent="0" lvl="2" marL="0" algn="r">
              <a:spcBef>
                <a:spcPts val="0"/>
              </a:spcBef>
              <a:buNone/>
              <a:defRPr b="0" i="0" sz="1200" u="none" cap="none" strike="noStrike">
                <a:solidFill>
                  <a:srgbClr val="888888"/>
                </a:solidFill>
                <a:latin typeface="Calibri"/>
                <a:ea typeface="Calibri"/>
                <a:cs typeface="Calibri"/>
                <a:sym typeface="Calibri"/>
              </a:defRPr>
            </a:lvl3pPr>
            <a:lvl4pPr indent="0" lvl="3" marL="0" algn="r">
              <a:spcBef>
                <a:spcPts val="0"/>
              </a:spcBef>
              <a:buNone/>
              <a:defRPr b="0" i="0" sz="1200" u="none" cap="none" strike="noStrike">
                <a:solidFill>
                  <a:srgbClr val="888888"/>
                </a:solidFill>
                <a:latin typeface="Calibri"/>
                <a:ea typeface="Calibri"/>
                <a:cs typeface="Calibri"/>
                <a:sym typeface="Calibri"/>
              </a:defRPr>
            </a:lvl4pPr>
            <a:lvl5pPr indent="0" lvl="4" marL="0" algn="r">
              <a:spcBef>
                <a:spcPts val="0"/>
              </a:spcBef>
              <a:buNone/>
              <a:defRPr b="0" i="0" sz="1200" u="none" cap="none" strike="noStrike">
                <a:solidFill>
                  <a:srgbClr val="888888"/>
                </a:solidFill>
                <a:latin typeface="Calibri"/>
                <a:ea typeface="Calibri"/>
                <a:cs typeface="Calibri"/>
                <a:sym typeface="Calibri"/>
              </a:defRPr>
            </a:lvl5pPr>
            <a:lvl6pPr indent="0" lvl="5" marL="0" algn="r">
              <a:spcBef>
                <a:spcPts val="0"/>
              </a:spcBef>
              <a:buNone/>
              <a:defRPr b="0" i="0" sz="1200" u="none" cap="none" strike="noStrike">
                <a:solidFill>
                  <a:srgbClr val="888888"/>
                </a:solidFill>
                <a:latin typeface="Calibri"/>
                <a:ea typeface="Calibri"/>
                <a:cs typeface="Calibri"/>
                <a:sym typeface="Calibri"/>
              </a:defRPr>
            </a:lvl6pPr>
            <a:lvl7pPr indent="0" lvl="6" marL="0" algn="r">
              <a:spcBef>
                <a:spcPts val="0"/>
              </a:spcBef>
              <a:buNone/>
              <a:defRPr b="0" i="0" sz="1200" u="none" cap="none" strike="noStrike">
                <a:solidFill>
                  <a:srgbClr val="888888"/>
                </a:solidFill>
                <a:latin typeface="Calibri"/>
                <a:ea typeface="Calibri"/>
                <a:cs typeface="Calibri"/>
                <a:sym typeface="Calibri"/>
              </a:defRPr>
            </a:lvl7pPr>
            <a:lvl8pPr indent="0" lvl="7" marL="0" algn="r">
              <a:spcBef>
                <a:spcPts val="0"/>
              </a:spcBef>
              <a:buNone/>
              <a:defRPr b="0" i="0" sz="1200" u="none" cap="none" strike="noStrike">
                <a:solidFill>
                  <a:srgbClr val="888888"/>
                </a:solidFill>
                <a:latin typeface="Calibri"/>
                <a:ea typeface="Calibri"/>
                <a:cs typeface="Calibri"/>
                <a:sym typeface="Calibri"/>
              </a:defRPr>
            </a:lvl8pPr>
            <a:lvl9pPr indent="0" lvl="8" mar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2"/>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ชื่อเรื่องและเนื้อหา" showMasterSp="0"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9" name="Google Shape;29;p3"/>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ส่วนหัวของส่วน" showMasterSp="0" type="secHead">
  <p:cSld name="SECTION_HEADER">
    <p:spTree>
      <p:nvGrpSpPr>
        <p:cNvPr id="30" name="Shape 30"/>
        <p:cNvGrpSpPr/>
        <p:nvPr/>
      </p:nvGrpSpPr>
      <p:grpSpPr>
        <a:xfrm>
          <a:off x="0" y="0"/>
          <a:ext cx="0" cy="0"/>
          <a:chOff x="0" y="0"/>
          <a:chExt cx="0" cy="0"/>
        </a:xfrm>
      </p:grpSpPr>
      <p:sp>
        <p:nvSpPr>
          <p:cNvPr id="31" name="Google Shape;31;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3" name="Google Shape;33;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6" name="Google Shape;36;p4"/>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เนื้อหา 2 ส่วน" showMasterSp="0" type="twoObj">
  <p:cSld name="TWO_OBJECTS">
    <p:spTree>
      <p:nvGrpSpPr>
        <p:cNvPr id="37" name="Shape 37"/>
        <p:cNvGrpSpPr/>
        <p:nvPr/>
      </p:nvGrpSpPr>
      <p:grpSpPr>
        <a:xfrm>
          <a:off x="0" y="0"/>
          <a:ext cx="0" cy="0"/>
          <a:chOff x="0" y="0"/>
          <a:chExt cx="0" cy="0"/>
        </a:xfrm>
      </p:grpSpPr>
      <p:sp>
        <p:nvSpPr>
          <p:cNvPr id="38" name="Google Shape;3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4" name="Google Shape;44;p5"/>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การเปรียบเทียบ" showMasterSp="0" type="twoTxTwoObj">
  <p:cSld name="TWO_OBJECTS_WITH_TEXT">
    <p:spTree>
      <p:nvGrpSpPr>
        <p:cNvPr id="45" name="Shape 45"/>
        <p:cNvGrpSpPr/>
        <p:nvPr/>
      </p:nvGrpSpPr>
      <p:grpSpPr>
        <a:xfrm>
          <a:off x="0" y="0"/>
          <a:ext cx="0" cy="0"/>
          <a:chOff x="0" y="0"/>
          <a:chExt cx="0" cy="0"/>
        </a:xfrm>
      </p:grpSpPr>
      <p:sp>
        <p:nvSpPr>
          <p:cNvPr id="46" name="Google Shape;4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4" name="Google Shape;54;p6"/>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เฉพาะชื่อเรื่อง" showMasterSp="0"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0" name="Google Shape;60;p7"/>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ว่างเปล่า" showMasterSp="0" type="blank">
  <p:cSld name="BLANK">
    <p:spTree>
      <p:nvGrpSpPr>
        <p:cNvPr id="61" name="Shape 61"/>
        <p:cNvGrpSpPr/>
        <p:nvPr/>
      </p:nvGrpSpPr>
      <p:grpSpPr>
        <a:xfrm>
          <a:off x="0" y="0"/>
          <a:ext cx="0" cy="0"/>
          <a:chOff x="0" y="0"/>
          <a:chExt cx="0" cy="0"/>
        </a:xfrm>
      </p:grpSpPr>
      <p:sp>
        <p:nvSpPr>
          <p:cNvPr id="62" name="Google Shape;6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8"/>
          <p:cNvPicPr preferRelativeResize="0"/>
          <p:nvPr/>
        </p:nvPicPr>
        <p:blipFill rotWithShape="1">
          <a:blip r:embed="rId2">
            <a:alphaModFix/>
          </a:blip>
          <a:srcRect b="0" l="0" r="0" t="0"/>
          <a:stretch/>
        </p:blipFill>
        <p:spPr>
          <a:xfrm>
            <a:off x="7020272" y="0"/>
            <a:ext cx="2123728" cy="7133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เนื้อหาพร้อมคำอธิบายภาพ" showMasterSp="0" type="objTx">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9" name="Google Shape;69;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0" name="Google Shape;7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รูปภาพพร้อมคำอธิบายภาพ" showMasterSp="0"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p:nvPr>
            <p:ph idx="2" type="pic"/>
          </p:nvPr>
        </p:nvSpPr>
        <p:spPr>
          <a:xfrm>
            <a:off x="1792288" y="612775"/>
            <a:ext cx="5486400" cy="4114800"/>
          </a:xfrm>
          <a:prstGeom prst="rect">
            <a:avLst/>
          </a:prstGeom>
          <a:noFill/>
          <a:ln>
            <a:noFill/>
          </a:ln>
        </p:spPr>
      </p:sp>
      <p:sp>
        <p:nvSpPr>
          <p:cNvPr id="76" name="Google Shape;76;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7" name="Google Shape;7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ชื่อเรื่องและข้อความแนวตั้ง" showMasterSp="0" type="vertTx">
  <p:cSld name="VERTICAL_TEXT">
    <p:spTree>
      <p:nvGrpSpPr>
        <p:cNvPr id="80" name="Shape 80"/>
        <p:cNvGrpSpPr/>
        <p:nvPr/>
      </p:nvGrpSpPr>
      <p:grpSpPr>
        <a:xfrm>
          <a:off x="0" y="0"/>
          <a:ext cx="0" cy="0"/>
          <a:chOff x="0" y="0"/>
          <a:chExt cx="0" cy="0"/>
        </a:xfrm>
      </p:grpSpPr>
      <p:sp>
        <p:nvSpPr>
          <p:cNvPr id="81" name="Google Shape;8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ข้อความและชื่อเรื่องแนวตั้ง" showMasterSp="0" type="vertTitleAndTx">
  <p:cSld name="VERTICAL_TITLE_AND_VERTICAL_TEXT">
    <p:spTree>
      <p:nvGrpSpPr>
        <p:cNvPr id="86" name="Shape 86"/>
        <p:cNvGrpSpPr/>
        <p:nvPr/>
      </p:nvGrpSpPr>
      <p:grpSpPr>
        <a:xfrm>
          <a:off x="0" y="0"/>
          <a:ext cx="0" cy="0"/>
          <a:chOff x="0" y="0"/>
          <a:chExt cx="0" cy="0"/>
        </a:xfrm>
      </p:grpSpPr>
      <p:sp>
        <p:nvSpPr>
          <p:cNvPr id="87" name="Google Shape;87;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 name="Google Shape;89;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F8FB"/>
            </a:gs>
            <a:gs pos="74000">
              <a:srgbClr val="AEC5E1"/>
            </a:gs>
            <a:gs pos="83000">
              <a:srgbClr val="AEC5E1"/>
            </a:gs>
            <a:gs pos="100000">
              <a:srgbClr val="C8D8EB"/>
            </a:gs>
          </a:gsLst>
          <a:lin ang="5400000"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
            <a:alphaModFix/>
          </a:blip>
          <a:srcRect b="0" l="0" r="0" t="0"/>
          <a:stretch/>
        </p:blipFill>
        <p:spPr>
          <a:xfrm>
            <a:off x="7020272" y="0"/>
            <a:ext cx="2123728" cy="71339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python.org/downloads/" TargetMode="External"/><Relationship Id="rId4" Type="http://schemas.openxmlformats.org/officeDocument/2006/relationships/hyperlink" Target="http://stackoverflow.com/documentation/python/809/incompatibilities-moving-from-python-2-to-python-3#t=20170328021312364043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python.org/2/library/idle.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python.org/3.6/tutorial/interpreter.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python.org/shell/" TargetMode="External"/><Relationship Id="rId4" Type="http://schemas.openxmlformats.org/officeDocument/2006/relationships/hyperlink" Target="https://ideone.com/" TargetMode="External"/><Relationship Id="rId5" Type="http://schemas.openxmlformats.org/officeDocument/2006/relationships/hyperlink" Target="https://repl.it/languages/python3" TargetMode="External"/><Relationship Id="rId6" Type="http://schemas.openxmlformats.org/officeDocument/2006/relationships/hyperlink" Target="https://www.tutorialspoint.com/execute_python_online.php" TargetMode="External"/><Relationship Id="rId7" Type="http://schemas.openxmlformats.org/officeDocument/2006/relationships/hyperlink" Target="http://rextester.com/l/python3_online_compil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pip.pypa.io/en/stabl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tackoverflow.com/documentation/python/193/introduction-to-python/2926/datatypes#t=201610091728094101649" TargetMode="Externa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en.wikipedia.org/wik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www.python.org/dev/peps/pep-0008/#tabs-or-spaces" TargetMode="Externa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ocs.python.org/3.5/glossary.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docs.python.org/2/library/functions.html#input" TargetMode="Externa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 name="Shape 95"/>
        <p:cNvGrpSpPr/>
        <p:nvPr/>
      </p:nvGrpSpPr>
      <p:grpSpPr>
        <a:xfrm>
          <a:off x="0" y="0"/>
          <a:ext cx="0" cy="0"/>
          <a:chOff x="0" y="0"/>
          <a:chExt cx="0" cy="0"/>
        </a:xfrm>
      </p:grpSpPr>
      <p:sp>
        <p:nvSpPr>
          <p:cNvPr id="96" name="Google Shape;9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Getting started with Python Language</a:t>
            </a:r>
            <a:endParaRPr/>
          </a:p>
        </p:txBody>
      </p:sp>
      <p:sp>
        <p:nvSpPr>
          <p:cNvPr id="97" name="Google Shape;9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pic>
        <p:nvPicPr>
          <p:cNvPr id="98" name="Google Shape;98;p13"/>
          <p:cNvPicPr preferRelativeResize="0"/>
          <p:nvPr/>
        </p:nvPicPr>
        <p:blipFill rotWithShape="1">
          <a:blip r:embed="rId3">
            <a:alphaModFix/>
          </a:blip>
          <a:srcRect b="0" l="0" r="0" t="0"/>
          <a:stretch/>
        </p:blipFill>
        <p:spPr>
          <a:xfrm>
            <a:off x="7020272" y="0"/>
            <a:ext cx="2123728" cy="7133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Zen of Python</a:t>
            </a:r>
            <a:endParaRPr/>
          </a:p>
        </p:txBody>
      </p:sp>
      <p:sp>
        <p:nvSpPr>
          <p:cNvPr id="104" name="Google Shape;104;p14"/>
          <p:cNvSpPr txBox="1"/>
          <p:nvPr>
            <p:ph idx="1" type="body"/>
          </p:nvPr>
        </p:nvSpPr>
        <p:spPr>
          <a:xfrm>
            <a:off x="457200" y="1417638"/>
            <a:ext cx="8229600" cy="5107706"/>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spcBef>
                <a:spcPts val="0"/>
              </a:spcBef>
              <a:spcAft>
                <a:spcPts val="0"/>
              </a:spcAft>
              <a:buClr>
                <a:schemeClr val="dk1"/>
              </a:buClr>
              <a:buSzPct val="100000"/>
              <a:buNone/>
            </a:pPr>
            <a:r>
              <a:rPr lang="en-US"/>
              <a:t>&gt;&gt;&gt;import this</a:t>
            </a:r>
            <a:endParaRPr/>
          </a:p>
          <a:p>
            <a:pPr indent="0" lvl="0" marL="0" rtl="0" algn="l">
              <a:spcBef>
                <a:spcPts val="304"/>
              </a:spcBef>
              <a:spcAft>
                <a:spcPts val="0"/>
              </a:spcAft>
              <a:buClr>
                <a:schemeClr val="dk1"/>
              </a:buClr>
              <a:buSzPct val="100000"/>
              <a:buNone/>
            </a:pPr>
            <a:r>
              <a:rPr lang="en-US"/>
              <a:t>The Zen of Python, by Tim Peters</a:t>
            </a:r>
            <a:endParaRPr/>
          </a:p>
          <a:p>
            <a:pPr indent="0" lvl="0" marL="0" rtl="0" algn="l">
              <a:spcBef>
                <a:spcPts val="304"/>
              </a:spcBef>
              <a:spcAft>
                <a:spcPts val="0"/>
              </a:spcAft>
              <a:buClr>
                <a:schemeClr val="dk1"/>
              </a:buClr>
              <a:buSzPct val="100000"/>
              <a:buNone/>
            </a:pPr>
            <a:r>
              <a:t/>
            </a:r>
            <a:endParaRPr/>
          </a:p>
          <a:p>
            <a:pPr indent="0" lvl="0" marL="0" rtl="0" algn="l">
              <a:spcBef>
                <a:spcPts val="304"/>
              </a:spcBef>
              <a:spcAft>
                <a:spcPts val="0"/>
              </a:spcAft>
              <a:buClr>
                <a:schemeClr val="dk1"/>
              </a:buClr>
              <a:buSzPct val="100000"/>
              <a:buNone/>
            </a:pPr>
            <a:r>
              <a:rPr lang="en-US"/>
              <a:t>Beautiful is better than ugly.</a:t>
            </a:r>
            <a:endParaRPr/>
          </a:p>
          <a:p>
            <a:pPr indent="0" lvl="0" marL="0" rtl="0" algn="l">
              <a:spcBef>
                <a:spcPts val="304"/>
              </a:spcBef>
              <a:spcAft>
                <a:spcPts val="0"/>
              </a:spcAft>
              <a:buClr>
                <a:schemeClr val="dk1"/>
              </a:buClr>
              <a:buSzPct val="100000"/>
              <a:buNone/>
            </a:pPr>
            <a:r>
              <a:rPr lang="en-US"/>
              <a:t>Explicit is better than implicit.</a:t>
            </a:r>
            <a:endParaRPr/>
          </a:p>
          <a:p>
            <a:pPr indent="0" lvl="0" marL="0" rtl="0" algn="l">
              <a:spcBef>
                <a:spcPts val="304"/>
              </a:spcBef>
              <a:spcAft>
                <a:spcPts val="0"/>
              </a:spcAft>
              <a:buClr>
                <a:schemeClr val="dk1"/>
              </a:buClr>
              <a:buSzPct val="100000"/>
              <a:buNone/>
            </a:pPr>
            <a:r>
              <a:rPr lang="en-US"/>
              <a:t>Simple is better than complex.</a:t>
            </a:r>
            <a:endParaRPr/>
          </a:p>
          <a:p>
            <a:pPr indent="0" lvl="0" marL="0" rtl="0" algn="l">
              <a:spcBef>
                <a:spcPts val="304"/>
              </a:spcBef>
              <a:spcAft>
                <a:spcPts val="0"/>
              </a:spcAft>
              <a:buClr>
                <a:schemeClr val="dk1"/>
              </a:buClr>
              <a:buSzPct val="100000"/>
              <a:buNone/>
            </a:pPr>
            <a:r>
              <a:rPr lang="en-US"/>
              <a:t>Complex is better than complicated.</a:t>
            </a:r>
            <a:endParaRPr/>
          </a:p>
          <a:p>
            <a:pPr indent="0" lvl="0" marL="0" rtl="0" algn="l">
              <a:spcBef>
                <a:spcPts val="304"/>
              </a:spcBef>
              <a:spcAft>
                <a:spcPts val="0"/>
              </a:spcAft>
              <a:buClr>
                <a:schemeClr val="dk1"/>
              </a:buClr>
              <a:buSzPct val="100000"/>
              <a:buNone/>
            </a:pPr>
            <a:r>
              <a:rPr lang="en-US"/>
              <a:t>Flat is better than nested.</a:t>
            </a:r>
            <a:endParaRPr/>
          </a:p>
          <a:p>
            <a:pPr indent="0" lvl="0" marL="0" rtl="0" algn="l">
              <a:spcBef>
                <a:spcPts val="304"/>
              </a:spcBef>
              <a:spcAft>
                <a:spcPts val="0"/>
              </a:spcAft>
              <a:buClr>
                <a:schemeClr val="dk1"/>
              </a:buClr>
              <a:buSzPct val="100000"/>
              <a:buNone/>
            </a:pPr>
            <a:r>
              <a:rPr lang="en-US"/>
              <a:t>Sparse is better than dense.</a:t>
            </a:r>
            <a:endParaRPr/>
          </a:p>
          <a:p>
            <a:pPr indent="0" lvl="0" marL="0" rtl="0" algn="l">
              <a:spcBef>
                <a:spcPts val="304"/>
              </a:spcBef>
              <a:spcAft>
                <a:spcPts val="0"/>
              </a:spcAft>
              <a:buClr>
                <a:schemeClr val="dk1"/>
              </a:buClr>
              <a:buSzPct val="100000"/>
              <a:buNone/>
            </a:pPr>
            <a:r>
              <a:rPr lang="en-US"/>
              <a:t>Readability counts.</a:t>
            </a:r>
            <a:endParaRPr/>
          </a:p>
          <a:p>
            <a:pPr indent="0" lvl="0" marL="0" rtl="0" algn="l">
              <a:spcBef>
                <a:spcPts val="304"/>
              </a:spcBef>
              <a:spcAft>
                <a:spcPts val="0"/>
              </a:spcAft>
              <a:buClr>
                <a:schemeClr val="dk1"/>
              </a:buClr>
              <a:buSzPct val="100000"/>
              <a:buNone/>
            </a:pPr>
            <a:r>
              <a:rPr lang="en-US"/>
              <a:t>Special cases aren't special enough to break the rules.</a:t>
            </a:r>
            <a:endParaRPr/>
          </a:p>
          <a:p>
            <a:pPr indent="0" lvl="0" marL="0" rtl="0" algn="l">
              <a:spcBef>
                <a:spcPts val="304"/>
              </a:spcBef>
              <a:spcAft>
                <a:spcPts val="0"/>
              </a:spcAft>
              <a:buClr>
                <a:schemeClr val="dk1"/>
              </a:buClr>
              <a:buSzPct val="100000"/>
              <a:buNone/>
            </a:pPr>
            <a:r>
              <a:rPr lang="en-US"/>
              <a:t>Although practicality beats purity.</a:t>
            </a:r>
            <a:endParaRPr/>
          </a:p>
          <a:p>
            <a:pPr indent="0" lvl="0" marL="0" rtl="0" algn="l">
              <a:spcBef>
                <a:spcPts val="304"/>
              </a:spcBef>
              <a:spcAft>
                <a:spcPts val="0"/>
              </a:spcAft>
              <a:buClr>
                <a:schemeClr val="dk1"/>
              </a:buClr>
              <a:buSzPct val="100000"/>
              <a:buNone/>
            </a:pPr>
            <a:r>
              <a:rPr lang="en-US"/>
              <a:t>Errors should never pass silently.</a:t>
            </a:r>
            <a:endParaRPr/>
          </a:p>
          <a:p>
            <a:pPr indent="0" lvl="0" marL="0" rtl="0" algn="l">
              <a:spcBef>
                <a:spcPts val="304"/>
              </a:spcBef>
              <a:spcAft>
                <a:spcPts val="0"/>
              </a:spcAft>
              <a:buClr>
                <a:schemeClr val="dk1"/>
              </a:buClr>
              <a:buSzPct val="100000"/>
              <a:buNone/>
            </a:pPr>
            <a:r>
              <a:rPr lang="en-US"/>
              <a:t>Unless explicitly silenced.</a:t>
            </a:r>
            <a:endParaRPr/>
          </a:p>
          <a:p>
            <a:pPr indent="0" lvl="0" marL="0" rtl="0" algn="l">
              <a:spcBef>
                <a:spcPts val="304"/>
              </a:spcBef>
              <a:spcAft>
                <a:spcPts val="0"/>
              </a:spcAft>
              <a:buClr>
                <a:schemeClr val="dk1"/>
              </a:buClr>
              <a:buSzPct val="100000"/>
              <a:buNone/>
            </a:pPr>
            <a:r>
              <a:rPr lang="en-US"/>
              <a:t>In the face of ambiguity, refuse the temptation to guess.</a:t>
            </a:r>
            <a:endParaRPr/>
          </a:p>
          <a:p>
            <a:pPr indent="0" lvl="0" marL="0" rtl="0" algn="l">
              <a:spcBef>
                <a:spcPts val="304"/>
              </a:spcBef>
              <a:spcAft>
                <a:spcPts val="0"/>
              </a:spcAft>
              <a:buClr>
                <a:schemeClr val="dk1"/>
              </a:buClr>
              <a:buSzPct val="100000"/>
              <a:buNone/>
            </a:pPr>
            <a:r>
              <a:rPr lang="en-US"/>
              <a:t>There should be one-- and preferably only one --obvious way to do it.</a:t>
            </a:r>
            <a:endParaRPr/>
          </a:p>
          <a:p>
            <a:pPr indent="0" lvl="0" marL="0" rtl="0" algn="l">
              <a:spcBef>
                <a:spcPts val="304"/>
              </a:spcBef>
              <a:spcAft>
                <a:spcPts val="0"/>
              </a:spcAft>
              <a:buClr>
                <a:schemeClr val="dk1"/>
              </a:buClr>
              <a:buSzPct val="100000"/>
              <a:buNone/>
            </a:pPr>
            <a:r>
              <a:rPr lang="en-US"/>
              <a:t>Although that way may not be obvious at first unless you're Dutch.</a:t>
            </a:r>
            <a:endParaRPr/>
          </a:p>
          <a:p>
            <a:pPr indent="0" lvl="0" marL="0" rtl="0" algn="l">
              <a:spcBef>
                <a:spcPts val="304"/>
              </a:spcBef>
              <a:spcAft>
                <a:spcPts val="0"/>
              </a:spcAft>
              <a:buClr>
                <a:schemeClr val="dk1"/>
              </a:buClr>
              <a:buSzPct val="100000"/>
              <a:buNone/>
            </a:pPr>
            <a:r>
              <a:rPr lang="en-US"/>
              <a:t>Now is better than never.</a:t>
            </a:r>
            <a:endParaRPr/>
          </a:p>
          <a:p>
            <a:pPr indent="0" lvl="0" marL="0" rtl="0" algn="l">
              <a:spcBef>
                <a:spcPts val="304"/>
              </a:spcBef>
              <a:spcAft>
                <a:spcPts val="0"/>
              </a:spcAft>
              <a:buClr>
                <a:schemeClr val="dk1"/>
              </a:buClr>
              <a:buSzPct val="100000"/>
              <a:buNone/>
            </a:pPr>
            <a:r>
              <a:rPr lang="en-US"/>
              <a:t>Although never is often better than *right* now.</a:t>
            </a:r>
            <a:endParaRPr/>
          </a:p>
          <a:p>
            <a:pPr indent="0" lvl="0" marL="0" rtl="0" algn="l">
              <a:spcBef>
                <a:spcPts val="304"/>
              </a:spcBef>
              <a:spcAft>
                <a:spcPts val="0"/>
              </a:spcAft>
              <a:buClr>
                <a:schemeClr val="dk1"/>
              </a:buClr>
              <a:buSzPct val="100000"/>
              <a:buNone/>
            </a:pPr>
            <a:r>
              <a:rPr lang="en-US"/>
              <a:t>If the implementation is hard to explain, it's a bad idea.</a:t>
            </a:r>
            <a:endParaRPr/>
          </a:p>
          <a:p>
            <a:pPr indent="0" lvl="0" marL="0" rtl="0" algn="l">
              <a:spcBef>
                <a:spcPts val="304"/>
              </a:spcBef>
              <a:spcAft>
                <a:spcPts val="0"/>
              </a:spcAft>
              <a:buClr>
                <a:schemeClr val="dk1"/>
              </a:buClr>
              <a:buSzPct val="100000"/>
              <a:buNone/>
            </a:pPr>
            <a:r>
              <a:rPr lang="en-US"/>
              <a:t>If the implementation is easy to explain, it may be a good idea.</a:t>
            </a:r>
            <a:endParaRPr/>
          </a:p>
          <a:p>
            <a:pPr indent="0" lvl="0" marL="0" rtl="0" algn="l">
              <a:spcBef>
                <a:spcPts val="304"/>
              </a:spcBef>
              <a:spcAft>
                <a:spcPts val="0"/>
              </a:spcAft>
              <a:buClr>
                <a:schemeClr val="dk1"/>
              </a:buClr>
              <a:buSzPct val="100000"/>
              <a:buNone/>
            </a:pPr>
            <a:r>
              <a:rPr lang="en-US"/>
              <a:t>Namespaces are one honking great idea -- let's do more of those!</a:t>
            </a:r>
            <a:endParaRPr/>
          </a:p>
          <a:p>
            <a:pPr indent="-246380" lvl="0" marL="342900" rtl="0" algn="l">
              <a:spcBef>
                <a:spcPts val="304"/>
              </a:spcBef>
              <a:spcAft>
                <a:spcPts val="0"/>
              </a:spcAft>
              <a:buClr>
                <a:schemeClr val="dk1"/>
              </a:buClr>
              <a:buSzPct val="100000"/>
              <a:buNone/>
            </a:pPr>
            <a:r>
              <a:t/>
            </a:r>
            <a:endParaRPr/>
          </a:p>
          <a:p>
            <a:pPr indent="-246380" lvl="0" marL="342900" rtl="0" algn="l">
              <a:spcBef>
                <a:spcPts val="304"/>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Getting Started</a:t>
            </a:r>
            <a:endParaRPr/>
          </a:p>
        </p:txBody>
      </p:sp>
      <p:sp>
        <p:nvSpPr>
          <p:cNvPr id="110" name="Google Shape;110;p15"/>
          <p:cNvSpPr txBox="1"/>
          <p:nvPr>
            <p:ph idx="1" type="body"/>
          </p:nvPr>
        </p:nvSpPr>
        <p:spPr>
          <a:xfrm>
            <a:off x="457200" y="1600200"/>
            <a:ext cx="8229600" cy="506916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Python features a dynamic type system and automatic memory management and supports multiple programming paradigms, including object-oriented, imperative, functional programming, and procedural styles. It has a large and comprehensive standard library.</a:t>
            </a:r>
            <a:endParaRPr/>
          </a:p>
          <a:p>
            <a:pPr indent="-185420" lvl="0" marL="342900" rtl="0" algn="l">
              <a:spcBef>
                <a:spcPts val="496"/>
              </a:spcBef>
              <a:spcAft>
                <a:spcPts val="0"/>
              </a:spcAft>
              <a:buClr>
                <a:schemeClr val="dk1"/>
              </a:buClr>
              <a:buSzPct val="100000"/>
              <a:buNone/>
            </a:pPr>
            <a:r>
              <a:t/>
            </a:r>
            <a:endParaRPr/>
          </a:p>
          <a:p>
            <a:pPr indent="0" lvl="0" marL="0" rtl="0" algn="l">
              <a:spcBef>
                <a:spcPts val="496"/>
              </a:spcBef>
              <a:spcAft>
                <a:spcPts val="0"/>
              </a:spcAft>
              <a:buClr>
                <a:schemeClr val="dk1"/>
              </a:buClr>
              <a:buSzPct val="100000"/>
              <a:buNone/>
            </a:pPr>
            <a:r>
              <a:rPr lang="en-US"/>
              <a:t>Two major versions of Python are currently in active use:</a:t>
            </a:r>
            <a:endParaRPr/>
          </a:p>
          <a:p>
            <a:pPr indent="-342900" lvl="0" marL="342900" rtl="0" algn="l">
              <a:spcBef>
                <a:spcPts val="496"/>
              </a:spcBef>
              <a:spcAft>
                <a:spcPts val="0"/>
              </a:spcAft>
              <a:buClr>
                <a:schemeClr val="dk1"/>
              </a:buClr>
              <a:buSzPct val="100000"/>
              <a:buChar char="•"/>
            </a:pPr>
            <a:r>
              <a:rPr lang="en-US"/>
              <a:t>Python 3.x is the current version and is under active development.</a:t>
            </a:r>
            <a:endParaRPr/>
          </a:p>
          <a:p>
            <a:pPr indent="-342900" lvl="0" marL="342900" rtl="0" algn="l">
              <a:spcBef>
                <a:spcPts val="496"/>
              </a:spcBef>
              <a:spcAft>
                <a:spcPts val="0"/>
              </a:spcAft>
              <a:buClr>
                <a:schemeClr val="dk1"/>
              </a:buClr>
              <a:buSzPct val="100000"/>
              <a:buChar char="•"/>
            </a:pPr>
            <a:r>
              <a:rPr lang="en-US"/>
              <a:t>Python 2.x is the legacy version and will receive only security updates until 2020. No new features will be implemented. Note that many projects still use Python 2, although migrating to Python 3 is getting easier.</a:t>
            </a:r>
            <a:endParaRPr/>
          </a:p>
          <a:p>
            <a:pPr indent="-342900" lvl="0" marL="342900" rtl="0" algn="l">
              <a:spcBef>
                <a:spcPts val="496"/>
              </a:spcBef>
              <a:spcAft>
                <a:spcPts val="0"/>
              </a:spcAft>
              <a:buClr>
                <a:schemeClr val="dk1"/>
              </a:buClr>
              <a:buSzPct val="100000"/>
              <a:buChar char="•"/>
            </a:pPr>
            <a:r>
              <a:rPr lang="en-US"/>
              <a:t>You can download and install either version of Python </a:t>
            </a:r>
            <a:r>
              <a:rPr lang="en-US" u="sng">
                <a:solidFill>
                  <a:schemeClr val="hlink"/>
                </a:solidFill>
                <a:hlinkClick r:id="rId3"/>
              </a:rPr>
              <a:t>here</a:t>
            </a:r>
            <a:r>
              <a:rPr lang="en-US"/>
              <a:t>. See </a:t>
            </a:r>
            <a:r>
              <a:rPr lang="en-US" u="sng">
                <a:solidFill>
                  <a:schemeClr val="hlink"/>
                </a:solidFill>
                <a:hlinkClick r:id="rId4"/>
              </a:rPr>
              <a:t>Python 3 vs. Python 2</a:t>
            </a:r>
            <a:r>
              <a:rPr lang="en-US"/>
              <a:t> for a comparison between them</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Verify if Python is installed</a:t>
            </a:r>
            <a:endParaRPr/>
          </a:p>
        </p:txBody>
      </p:sp>
      <p:sp>
        <p:nvSpPr>
          <p:cNvPr id="116" name="Google Shape;116;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To confirm that Python was installed correctly, you can verify that by running the following command: </a:t>
            </a:r>
            <a:endParaRPr/>
          </a:p>
          <a:p>
            <a:pPr indent="0" lvl="0" marL="0" rtl="0" algn="l">
              <a:spcBef>
                <a:spcPts val="640"/>
              </a:spcBef>
              <a:spcAft>
                <a:spcPts val="0"/>
              </a:spcAft>
              <a:buClr>
                <a:schemeClr val="dk1"/>
              </a:buClr>
              <a:buSzPts val="3200"/>
              <a:buNone/>
            </a:pPr>
            <a:r>
              <a:rPr lang="en-US"/>
              <a:t>$ python –version</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pic>
        <p:nvPicPr>
          <p:cNvPr id="117" name="Google Shape;117;p16"/>
          <p:cNvPicPr preferRelativeResize="0"/>
          <p:nvPr/>
        </p:nvPicPr>
        <p:blipFill rotWithShape="1">
          <a:blip r:embed="rId3">
            <a:alphaModFix/>
          </a:blip>
          <a:srcRect b="0" l="0" r="0" t="0"/>
          <a:stretch/>
        </p:blipFill>
        <p:spPr>
          <a:xfrm>
            <a:off x="1043608" y="3861048"/>
            <a:ext cx="5832648" cy="25033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Hello, World in Python using IDLE</a:t>
            </a:r>
            <a:endParaRPr/>
          </a:p>
        </p:txBody>
      </p:sp>
      <p:sp>
        <p:nvSpPr>
          <p:cNvPr id="123" name="Google Shape;1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u="sng">
                <a:solidFill>
                  <a:schemeClr val="hlink"/>
                </a:solidFill>
                <a:hlinkClick r:id="rId3"/>
              </a:rPr>
              <a:t>IDLE</a:t>
            </a:r>
            <a:r>
              <a:rPr lang="en-US"/>
              <a:t> is a simple editor for Python, that comes bundled with Python.</a:t>
            </a:r>
            <a:endParaRPr/>
          </a:p>
          <a:p>
            <a:pPr indent="-342900" lvl="0" marL="342900" rtl="0" algn="l">
              <a:spcBef>
                <a:spcPts val="496"/>
              </a:spcBef>
              <a:spcAft>
                <a:spcPts val="0"/>
              </a:spcAft>
              <a:buClr>
                <a:schemeClr val="dk1"/>
              </a:buClr>
              <a:buSzPct val="100000"/>
              <a:buChar char="•"/>
            </a:pPr>
            <a:r>
              <a:rPr b="1" lang="en-US"/>
              <a:t>How to create Hello, World program in IDLE</a:t>
            </a:r>
            <a:endParaRPr/>
          </a:p>
          <a:p>
            <a:pPr indent="-342900" lvl="0" marL="342900" rtl="0" algn="l">
              <a:spcBef>
                <a:spcPts val="496"/>
              </a:spcBef>
              <a:spcAft>
                <a:spcPts val="0"/>
              </a:spcAft>
              <a:buClr>
                <a:schemeClr val="dk1"/>
              </a:buClr>
              <a:buSzPct val="100000"/>
              <a:buChar char="•"/>
            </a:pPr>
            <a:r>
              <a:rPr lang="en-US"/>
              <a:t>Open IDLE on your system of choice. </a:t>
            </a:r>
            <a:endParaRPr/>
          </a:p>
          <a:p>
            <a:pPr indent="-285750" lvl="1" marL="742950" rtl="0" algn="l">
              <a:spcBef>
                <a:spcPts val="434"/>
              </a:spcBef>
              <a:spcAft>
                <a:spcPts val="0"/>
              </a:spcAft>
              <a:buClr>
                <a:schemeClr val="dk1"/>
              </a:buClr>
              <a:buSzPct val="100000"/>
              <a:buChar char="–"/>
            </a:pPr>
            <a:r>
              <a:rPr lang="en-US"/>
              <a:t>In older versions of Windows, it can be found at All Programs under the Windows menu.</a:t>
            </a:r>
            <a:endParaRPr/>
          </a:p>
          <a:p>
            <a:pPr indent="-285750" lvl="1" marL="742950" rtl="0" algn="l">
              <a:spcBef>
                <a:spcPts val="434"/>
              </a:spcBef>
              <a:spcAft>
                <a:spcPts val="0"/>
              </a:spcAft>
              <a:buClr>
                <a:schemeClr val="dk1"/>
              </a:buClr>
              <a:buSzPct val="100000"/>
              <a:buChar char="–"/>
            </a:pPr>
            <a:r>
              <a:rPr lang="en-US"/>
              <a:t>In Windows 8+, search for IDLE or find it in the apps that are present in your system.</a:t>
            </a:r>
            <a:endParaRPr/>
          </a:p>
          <a:p>
            <a:pPr indent="-285750" lvl="1" marL="742950" rtl="0" algn="l">
              <a:spcBef>
                <a:spcPts val="434"/>
              </a:spcBef>
              <a:spcAft>
                <a:spcPts val="0"/>
              </a:spcAft>
              <a:buClr>
                <a:schemeClr val="dk1"/>
              </a:buClr>
              <a:buSzPct val="100000"/>
              <a:buChar char="–"/>
            </a:pPr>
            <a:r>
              <a:rPr lang="en-US"/>
              <a:t>On Unix-based (including Mac) systems you can open it from the shell by typing $ idle python_file.py.</a:t>
            </a:r>
            <a:endParaRPr/>
          </a:p>
          <a:p>
            <a:pPr indent="-342900" lvl="0" marL="342900" rtl="0" algn="l">
              <a:spcBef>
                <a:spcPts val="496"/>
              </a:spcBef>
              <a:spcAft>
                <a:spcPts val="0"/>
              </a:spcAft>
              <a:buClr>
                <a:schemeClr val="dk1"/>
              </a:buClr>
              <a:buSzPct val="100000"/>
              <a:buChar char="•"/>
            </a:pPr>
            <a:r>
              <a:rPr lang="en-US"/>
              <a:t>It will open a shell with options along the top.</a:t>
            </a:r>
            <a:endParaRPr/>
          </a:p>
          <a:p>
            <a:pPr indent="-342900" lvl="0" marL="342900" rtl="0" algn="l">
              <a:spcBef>
                <a:spcPts val="496"/>
              </a:spcBef>
              <a:spcAft>
                <a:spcPts val="0"/>
              </a:spcAft>
              <a:buClr>
                <a:schemeClr val="dk1"/>
              </a:buClr>
              <a:buSzPct val="100000"/>
              <a:buChar char="•"/>
            </a:pPr>
            <a:r>
              <a:rPr lang="en-US"/>
              <a:t>In the shell, there is a prompt of three right angle brackets:</a:t>
            </a:r>
            <a:endParaRPr/>
          </a:p>
          <a:p>
            <a:pPr indent="0" lvl="0" marL="0" rtl="0" algn="l">
              <a:spcBef>
                <a:spcPts val="496"/>
              </a:spcBef>
              <a:spcAft>
                <a:spcPts val="0"/>
              </a:spcAft>
              <a:buClr>
                <a:schemeClr val="dk1"/>
              </a:buClr>
              <a:buSzPct val="100000"/>
              <a:buNone/>
            </a:pPr>
            <a:r>
              <a:rPr lang="en-US"/>
              <a:t>&gt;&gt;&gt;</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7" name="Shape 127"/>
        <p:cNvGrpSpPr/>
        <p:nvPr/>
      </p:nvGrpSpPr>
      <p:grpSpPr>
        <a:xfrm>
          <a:off x="0" y="0"/>
          <a:ext cx="0" cy="0"/>
          <a:chOff x="0" y="0"/>
          <a:chExt cx="0" cy="0"/>
        </a:xfrm>
      </p:grpSpPr>
      <p:sp>
        <p:nvSpPr>
          <p:cNvPr id="128" name="Google Shape;12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9" name="Google Shape;129;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Now write the following code in the prompt:</a:t>
            </a:r>
            <a:endParaRPr/>
          </a:p>
          <a:p>
            <a:pPr indent="0" lvl="0" marL="0" rtl="0" algn="l">
              <a:spcBef>
                <a:spcPts val="640"/>
              </a:spcBef>
              <a:spcAft>
                <a:spcPts val="0"/>
              </a:spcAft>
              <a:buClr>
                <a:schemeClr val="dk1"/>
              </a:buClr>
              <a:buSzPts val="3200"/>
              <a:buNone/>
            </a:pPr>
            <a:r>
              <a:rPr lang="en-US">
                <a:latin typeface="Bodoni"/>
                <a:ea typeface="Bodoni"/>
                <a:cs typeface="Bodoni"/>
                <a:sym typeface="Bodoni"/>
              </a:rPr>
              <a:t>&gt;&gt;&gt; print("Hello, World") </a:t>
            </a:r>
            <a:endParaRPr/>
          </a:p>
          <a:p>
            <a:pPr indent="0" lvl="0" marL="0" rtl="0" algn="l">
              <a:spcBef>
                <a:spcPts val="640"/>
              </a:spcBef>
              <a:spcAft>
                <a:spcPts val="0"/>
              </a:spcAft>
              <a:buClr>
                <a:schemeClr val="dk1"/>
              </a:buClr>
              <a:buSzPts val="3200"/>
              <a:buNone/>
            </a:pPr>
            <a:r>
              <a:rPr lang="en-US">
                <a:latin typeface="Bodoni"/>
                <a:ea typeface="Bodoni"/>
                <a:cs typeface="Bodoni"/>
                <a:sym typeface="Bodoni"/>
              </a:rPr>
              <a:t>Hit Enter.</a:t>
            </a:r>
            <a:endParaRPr/>
          </a:p>
          <a:p>
            <a:pPr indent="0" lvl="0" marL="0" rtl="0" algn="l">
              <a:spcBef>
                <a:spcPts val="640"/>
              </a:spcBef>
              <a:spcAft>
                <a:spcPts val="0"/>
              </a:spcAft>
              <a:buClr>
                <a:schemeClr val="dk1"/>
              </a:buClr>
              <a:buSzPts val="3200"/>
              <a:buNone/>
            </a:pPr>
            <a:r>
              <a:rPr lang="en-US">
                <a:latin typeface="Bodoni"/>
                <a:ea typeface="Bodoni"/>
                <a:cs typeface="Bodoni"/>
                <a:sym typeface="Bodoni"/>
              </a:rPr>
              <a:t>&gt;&gt;&gt; print("Hello, World") </a:t>
            </a:r>
            <a:endParaRPr/>
          </a:p>
          <a:p>
            <a:pPr indent="0" lvl="0" marL="0" rtl="0" algn="l">
              <a:spcBef>
                <a:spcPts val="640"/>
              </a:spcBef>
              <a:spcAft>
                <a:spcPts val="0"/>
              </a:spcAft>
              <a:buClr>
                <a:schemeClr val="dk1"/>
              </a:buClr>
              <a:buSzPts val="3200"/>
              <a:buNone/>
            </a:pPr>
            <a:r>
              <a:rPr lang="en-US">
                <a:latin typeface="Bodoni"/>
                <a:ea typeface="Bodoni"/>
                <a:cs typeface="Bodoni"/>
                <a:sym typeface="Bodoni"/>
              </a:rPr>
              <a:t>Hello, World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Hello World Python file</a:t>
            </a:r>
            <a:endParaRPr/>
          </a:p>
        </p:txBody>
      </p:sp>
      <p:sp>
        <p:nvSpPr>
          <p:cNvPr id="135" name="Google Shape;135;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Create a new file hello.py that contains the following line:</a:t>
            </a:r>
            <a:endParaRPr/>
          </a:p>
          <a:p>
            <a:pPr indent="-139700" lvl="0" marL="342900" rtl="0" algn="l">
              <a:spcBef>
                <a:spcPts val="640"/>
              </a:spcBef>
              <a:spcAft>
                <a:spcPts val="0"/>
              </a:spcAft>
              <a:buClr>
                <a:schemeClr val="dk1"/>
              </a:buClr>
              <a:buSzPts val="3200"/>
              <a:buNone/>
            </a:pPr>
            <a:r>
              <a:t/>
            </a:r>
            <a:endParaRPr/>
          </a:p>
        </p:txBody>
      </p:sp>
      <p:pic>
        <p:nvPicPr>
          <p:cNvPr id="136" name="Google Shape;136;p19"/>
          <p:cNvPicPr preferRelativeResize="0"/>
          <p:nvPr/>
        </p:nvPicPr>
        <p:blipFill rotWithShape="1">
          <a:blip r:embed="rId3">
            <a:alphaModFix/>
          </a:blip>
          <a:srcRect b="0" l="0" r="0" t="0"/>
          <a:stretch/>
        </p:blipFill>
        <p:spPr>
          <a:xfrm>
            <a:off x="1259631" y="2780928"/>
            <a:ext cx="6093563" cy="36724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Launch an interactive Python shell</a:t>
            </a:r>
            <a:endParaRPr/>
          </a:p>
        </p:txBody>
      </p:sp>
      <p:sp>
        <p:nvSpPr>
          <p:cNvPr id="142" name="Google Shape;142;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By executing (running) the python command in your terminal, you are presented with an interactive Python shell. This is also known as the </a:t>
            </a:r>
            <a:r>
              <a:rPr lang="en-US" u="sng">
                <a:solidFill>
                  <a:schemeClr val="hlink"/>
                </a:solidFill>
                <a:hlinkClick r:id="rId3"/>
              </a:rPr>
              <a:t>Python Interpreter</a:t>
            </a:r>
            <a:r>
              <a:rPr lang="en-US"/>
              <a:t> or a REPL (for 'Read Evaluate Print Loop').</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 python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Python 2.7.12 (default, Jun 28 2016, 08:46:01)</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 [GCC 6.1.1 20160602] on linux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Type "help", "copyright", "credits" or "license" for more information.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&gt;&gt;&gt; print 'Hello, World'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Hello, World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&gt;&gt;&gt;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6" name="Shape 146"/>
        <p:cNvGrpSpPr/>
        <p:nvPr/>
      </p:nvGrpSpPr>
      <p:grpSpPr>
        <a:xfrm>
          <a:off x="0" y="0"/>
          <a:ext cx="0" cy="0"/>
          <a:chOff x="0" y="0"/>
          <a:chExt cx="0" cy="0"/>
        </a:xfrm>
      </p:grpSpPr>
      <p:sp>
        <p:nvSpPr>
          <p:cNvPr id="147" name="Google Shape;147;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48" name="Google Shape;148;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If you want to run Python 3 from your terminal, execute the command python3.</a:t>
            </a:r>
            <a:endParaRPr/>
          </a:p>
          <a:p>
            <a:pPr indent="0" lvl="0" marL="0" rtl="0" algn="l">
              <a:spcBef>
                <a:spcPts val="592"/>
              </a:spcBef>
              <a:spcAft>
                <a:spcPts val="0"/>
              </a:spcAft>
              <a:buClr>
                <a:schemeClr val="dk1"/>
              </a:buClr>
              <a:buSzPct val="100000"/>
              <a:buNone/>
            </a:pPr>
            <a:r>
              <a:rPr lang="en-US">
                <a:latin typeface="Bodoni"/>
                <a:ea typeface="Bodoni"/>
                <a:cs typeface="Bodoni"/>
                <a:sym typeface="Bodoni"/>
              </a:rPr>
              <a:t>$ python3 </a:t>
            </a:r>
            <a:endParaRPr/>
          </a:p>
          <a:p>
            <a:pPr indent="0" lvl="0" marL="0" rtl="0" algn="l">
              <a:spcBef>
                <a:spcPts val="592"/>
              </a:spcBef>
              <a:spcAft>
                <a:spcPts val="0"/>
              </a:spcAft>
              <a:buClr>
                <a:schemeClr val="dk1"/>
              </a:buClr>
              <a:buSzPct val="100000"/>
              <a:buNone/>
            </a:pPr>
            <a:r>
              <a:rPr lang="en-US">
                <a:latin typeface="Bodoni"/>
                <a:ea typeface="Bodoni"/>
                <a:cs typeface="Bodoni"/>
                <a:sym typeface="Bodoni"/>
              </a:rPr>
              <a:t>Python 3.6.0 (default, Jan 13 2017, 00:00:00) [GCC 6.1.1 20160602] on linux </a:t>
            </a:r>
            <a:endParaRPr/>
          </a:p>
          <a:p>
            <a:pPr indent="0" lvl="0" marL="0" rtl="0" algn="l">
              <a:spcBef>
                <a:spcPts val="592"/>
              </a:spcBef>
              <a:spcAft>
                <a:spcPts val="0"/>
              </a:spcAft>
              <a:buClr>
                <a:schemeClr val="dk1"/>
              </a:buClr>
              <a:buSzPct val="100000"/>
              <a:buNone/>
            </a:pPr>
            <a:r>
              <a:rPr lang="en-US">
                <a:latin typeface="Bodoni"/>
                <a:ea typeface="Bodoni"/>
                <a:cs typeface="Bodoni"/>
                <a:sym typeface="Bodoni"/>
              </a:rPr>
              <a:t>Type "help", "copyright", "credits" or "license" for more information. </a:t>
            </a:r>
            <a:endParaRPr/>
          </a:p>
          <a:p>
            <a:pPr indent="0" lvl="0" marL="0" rtl="0" algn="l">
              <a:spcBef>
                <a:spcPts val="592"/>
              </a:spcBef>
              <a:spcAft>
                <a:spcPts val="0"/>
              </a:spcAft>
              <a:buClr>
                <a:schemeClr val="dk1"/>
              </a:buClr>
              <a:buSzPct val="100000"/>
              <a:buNone/>
            </a:pPr>
            <a:r>
              <a:rPr lang="en-US">
                <a:latin typeface="Bodoni"/>
                <a:ea typeface="Bodoni"/>
                <a:cs typeface="Bodoni"/>
                <a:sym typeface="Bodoni"/>
              </a:rPr>
              <a:t>&gt;&gt;&gt; print('Hello, World') </a:t>
            </a:r>
            <a:endParaRPr/>
          </a:p>
          <a:p>
            <a:pPr indent="0" lvl="0" marL="0" rtl="0" algn="l">
              <a:spcBef>
                <a:spcPts val="592"/>
              </a:spcBef>
              <a:spcAft>
                <a:spcPts val="0"/>
              </a:spcAft>
              <a:buClr>
                <a:schemeClr val="dk1"/>
              </a:buClr>
              <a:buSzPct val="100000"/>
              <a:buNone/>
            </a:pPr>
            <a:r>
              <a:rPr lang="en-US">
                <a:latin typeface="Bodoni"/>
                <a:ea typeface="Bodoni"/>
                <a:cs typeface="Bodoni"/>
                <a:sym typeface="Bodoni"/>
              </a:rPr>
              <a:t>Hello, World </a:t>
            </a:r>
            <a:endParaRPr/>
          </a:p>
          <a:p>
            <a:pPr indent="0" lvl="0" marL="0" rtl="0" algn="l">
              <a:spcBef>
                <a:spcPts val="592"/>
              </a:spcBef>
              <a:spcAft>
                <a:spcPts val="0"/>
              </a:spcAft>
              <a:buClr>
                <a:schemeClr val="dk1"/>
              </a:buClr>
              <a:buSzPct val="100000"/>
              <a:buNone/>
            </a:pPr>
            <a:r>
              <a:rPr lang="en-US">
                <a:latin typeface="Bodoni"/>
                <a:ea typeface="Bodoni"/>
                <a:cs typeface="Bodoni"/>
                <a:sym typeface="Bodoni"/>
              </a:rPr>
              <a:t>&gt;&gt;&gt;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2" name="Shape 152"/>
        <p:cNvGrpSpPr/>
        <p:nvPr/>
      </p:nvGrpSpPr>
      <p:grpSpPr>
        <a:xfrm>
          <a:off x="0" y="0"/>
          <a:ext cx="0" cy="0"/>
          <a:chOff x="0" y="0"/>
          <a:chExt cx="0" cy="0"/>
        </a:xfrm>
      </p:grpSpPr>
      <p:sp>
        <p:nvSpPr>
          <p:cNvPr id="153" name="Google Shape;153;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54" name="Google Shape;154;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Alternatively, start the interactive prompt and load file with python -i &lt;file.py&gt;.</a:t>
            </a:r>
            <a:endParaRPr/>
          </a:p>
          <a:p>
            <a:pPr indent="-139700" lvl="0" marL="342900" rtl="0" algn="l">
              <a:spcBef>
                <a:spcPts val="640"/>
              </a:spcBef>
              <a:spcAft>
                <a:spcPts val="0"/>
              </a:spcAft>
              <a:buClr>
                <a:schemeClr val="dk1"/>
              </a:buClr>
              <a:buSzPts val="3200"/>
              <a:buNone/>
            </a:pPr>
            <a:r>
              <a:t/>
            </a:r>
            <a:endParaRPr/>
          </a:p>
        </p:txBody>
      </p:sp>
      <p:pic>
        <p:nvPicPr>
          <p:cNvPr id="155" name="Google Shape;155;p22"/>
          <p:cNvPicPr preferRelativeResize="0"/>
          <p:nvPr/>
        </p:nvPicPr>
        <p:blipFill rotWithShape="1">
          <a:blip r:embed="rId3">
            <a:alphaModFix/>
          </a:blip>
          <a:srcRect b="0" l="0" r="0" t="0"/>
          <a:stretch/>
        </p:blipFill>
        <p:spPr>
          <a:xfrm>
            <a:off x="1115616" y="2852936"/>
            <a:ext cx="6505575" cy="3390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Other Online Shells</a:t>
            </a:r>
            <a:endParaRPr/>
          </a:p>
        </p:txBody>
      </p:sp>
      <p:sp>
        <p:nvSpPr>
          <p:cNvPr id="161" name="Google Shape;16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Various websites provide online access to Python shells. Online shells may be useful for the following purposes:</a:t>
            </a:r>
            <a:endParaRPr/>
          </a:p>
          <a:p>
            <a:pPr indent="-342900" lvl="0" marL="342900" rtl="0" algn="l">
              <a:spcBef>
                <a:spcPts val="640"/>
              </a:spcBef>
              <a:spcAft>
                <a:spcPts val="0"/>
              </a:spcAft>
              <a:buClr>
                <a:schemeClr val="dk1"/>
              </a:buClr>
              <a:buSzPts val="3200"/>
              <a:buChar char="•"/>
            </a:pPr>
            <a:r>
              <a:rPr lang="en-US"/>
              <a:t>Run a small code snippet from a machine which lacks python installation(smartphones, tablets etc).</a:t>
            </a:r>
            <a:endParaRPr/>
          </a:p>
          <a:p>
            <a:pPr indent="-342900" lvl="0" marL="342900" rtl="0" algn="l">
              <a:spcBef>
                <a:spcPts val="640"/>
              </a:spcBef>
              <a:spcAft>
                <a:spcPts val="0"/>
              </a:spcAft>
              <a:buClr>
                <a:schemeClr val="dk1"/>
              </a:buClr>
              <a:buSzPts val="3200"/>
              <a:buChar char="•"/>
            </a:pPr>
            <a:r>
              <a:rPr lang="en-US"/>
              <a:t>Learn or teach basic Python.</a:t>
            </a:r>
            <a:endParaRPr/>
          </a:p>
          <a:p>
            <a:pPr indent="-342900" lvl="0" marL="342900" rtl="0" algn="l">
              <a:spcBef>
                <a:spcPts val="640"/>
              </a:spcBef>
              <a:spcAft>
                <a:spcPts val="0"/>
              </a:spcAft>
              <a:buClr>
                <a:schemeClr val="dk1"/>
              </a:buClr>
              <a:buSzPts val="3200"/>
              <a:buChar char="•"/>
            </a:pPr>
            <a:r>
              <a:rPr lang="en-US"/>
              <a:t>Solve online judge problems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67" name="Google Shape;16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None/>
            </a:pPr>
            <a:r>
              <a:rPr lang="en-US"/>
              <a:t>Examples:</a:t>
            </a:r>
            <a:endParaRPr/>
          </a:p>
          <a:p>
            <a:pPr indent="0" lvl="0" marL="0" rtl="0" algn="l">
              <a:spcBef>
                <a:spcPts val="448"/>
              </a:spcBef>
              <a:spcAft>
                <a:spcPts val="0"/>
              </a:spcAft>
              <a:buClr>
                <a:schemeClr val="dk1"/>
              </a:buClr>
              <a:buSzPct val="100000"/>
              <a:buNone/>
            </a:pPr>
            <a:r>
              <a:rPr lang="en-US"/>
              <a:t>Disclaimer: documentation author(s) are not affiliated with any resources listed below.</a:t>
            </a:r>
            <a:endParaRPr/>
          </a:p>
          <a:p>
            <a:pPr indent="-342900" lvl="0" marL="342900" rtl="0" algn="l">
              <a:spcBef>
                <a:spcPts val="448"/>
              </a:spcBef>
              <a:spcAft>
                <a:spcPts val="0"/>
              </a:spcAft>
              <a:buClr>
                <a:schemeClr val="dk1"/>
              </a:buClr>
              <a:buSzPct val="100000"/>
              <a:buChar char="•"/>
            </a:pPr>
            <a:r>
              <a:rPr lang="en-US" u="sng">
                <a:solidFill>
                  <a:schemeClr val="hlink"/>
                </a:solidFill>
                <a:hlinkClick r:id="rId3"/>
              </a:rPr>
              <a:t>https://www.python.org/shell/</a:t>
            </a:r>
            <a:r>
              <a:rPr lang="en-US"/>
              <a:t> - The online Python shell hosted by the official Python website.</a:t>
            </a:r>
            <a:endParaRPr/>
          </a:p>
          <a:p>
            <a:pPr indent="-342900" lvl="0" marL="342900" rtl="0" algn="l">
              <a:spcBef>
                <a:spcPts val="448"/>
              </a:spcBef>
              <a:spcAft>
                <a:spcPts val="0"/>
              </a:spcAft>
              <a:buClr>
                <a:schemeClr val="dk1"/>
              </a:buClr>
              <a:buSzPct val="100000"/>
              <a:buChar char="•"/>
            </a:pPr>
            <a:r>
              <a:rPr lang="en-US" u="sng">
                <a:solidFill>
                  <a:schemeClr val="hlink"/>
                </a:solidFill>
                <a:hlinkClick r:id="rId4"/>
              </a:rPr>
              <a:t>https://ideone.com/</a:t>
            </a:r>
            <a:r>
              <a:rPr lang="en-US"/>
              <a:t> - Widely used on the Net to illustrate code snippet behavior.</a:t>
            </a:r>
            <a:endParaRPr/>
          </a:p>
          <a:p>
            <a:pPr indent="-342900" lvl="0" marL="342900" rtl="0" algn="l">
              <a:spcBef>
                <a:spcPts val="448"/>
              </a:spcBef>
              <a:spcAft>
                <a:spcPts val="0"/>
              </a:spcAft>
              <a:buClr>
                <a:schemeClr val="dk1"/>
              </a:buClr>
              <a:buSzPct val="100000"/>
              <a:buChar char="•"/>
            </a:pPr>
            <a:r>
              <a:rPr lang="en-US" u="sng">
                <a:solidFill>
                  <a:schemeClr val="hlink"/>
                </a:solidFill>
                <a:hlinkClick r:id="rId5"/>
              </a:rPr>
              <a:t>https://repl.it/languages/python3</a:t>
            </a:r>
            <a:r>
              <a:rPr lang="en-US"/>
              <a:t> - Powerful and simple online compiler, IDE and interpreter. Code, compile, and run code in Python.</a:t>
            </a:r>
            <a:endParaRPr/>
          </a:p>
          <a:p>
            <a:pPr indent="-342900" lvl="0" marL="342900" rtl="0" algn="l">
              <a:spcBef>
                <a:spcPts val="448"/>
              </a:spcBef>
              <a:spcAft>
                <a:spcPts val="0"/>
              </a:spcAft>
              <a:buClr>
                <a:schemeClr val="dk1"/>
              </a:buClr>
              <a:buSzPct val="100000"/>
              <a:buChar char="•"/>
            </a:pPr>
            <a:r>
              <a:rPr lang="en-US" u="sng">
                <a:solidFill>
                  <a:schemeClr val="hlink"/>
                </a:solidFill>
                <a:hlinkClick r:id="rId6"/>
              </a:rPr>
              <a:t>https://www.tutorialspoint.com/execute_python_online.php</a:t>
            </a:r>
            <a:r>
              <a:rPr lang="en-US"/>
              <a:t> - Full-featured UNIX shell, and a user-friendly project explorer.</a:t>
            </a:r>
            <a:endParaRPr/>
          </a:p>
          <a:p>
            <a:pPr indent="-342900" lvl="0" marL="342900" rtl="0" algn="l">
              <a:spcBef>
                <a:spcPts val="448"/>
              </a:spcBef>
              <a:spcAft>
                <a:spcPts val="0"/>
              </a:spcAft>
              <a:buClr>
                <a:schemeClr val="dk1"/>
              </a:buClr>
              <a:buSzPct val="100000"/>
              <a:buChar char="•"/>
            </a:pPr>
            <a:r>
              <a:rPr lang="en-US" u="sng">
                <a:solidFill>
                  <a:schemeClr val="hlink"/>
                </a:solidFill>
                <a:hlinkClick r:id="rId7"/>
              </a:rPr>
              <a:t>http://rextester.com/l/python3_online_compiler</a:t>
            </a:r>
            <a:r>
              <a:rPr lang="en-US"/>
              <a:t> - Simple and easy to use IDE which shows execution time</a:t>
            </a:r>
            <a:endParaRPr/>
          </a:p>
          <a:p>
            <a:pPr indent="-200660" lvl="0" marL="342900" rtl="0" algn="l">
              <a:spcBef>
                <a:spcPts val="448"/>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Run commands as a string</a:t>
            </a:r>
            <a:endParaRPr/>
          </a:p>
        </p:txBody>
      </p:sp>
      <p:sp>
        <p:nvSpPr>
          <p:cNvPr id="173" name="Google Shape;17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Python can be passed arbitrary code as a string in the shell:</a:t>
            </a:r>
            <a:endParaRPr/>
          </a:p>
          <a:p>
            <a:pPr indent="0" lvl="0" marL="0" rtl="0" algn="l">
              <a:spcBef>
                <a:spcPts val="640"/>
              </a:spcBef>
              <a:spcAft>
                <a:spcPts val="0"/>
              </a:spcAft>
              <a:buClr>
                <a:schemeClr val="dk1"/>
              </a:buClr>
              <a:buSzPts val="3200"/>
              <a:buNone/>
            </a:pPr>
            <a:r>
              <a:rPr lang="en-US">
                <a:latin typeface="Bodoni"/>
                <a:ea typeface="Bodoni"/>
                <a:cs typeface="Bodoni"/>
                <a:sym typeface="Bodoni"/>
              </a:rPr>
              <a:t>$ python -c 'print("Hello, World")' </a:t>
            </a:r>
            <a:endParaRPr/>
          </a:p>
          <a:p>
            <a:pPr indent="0" lvl="0" marL="0" rtl="0" algn="l">
              <a:spcBef>
                <a:spcPts val="640"/>
              </a:spcBef>
              <a:spcAft>
                <a:spcPts val="0"/>
              </a:spcAft>
              <a:buClr>
                <a:schemeClr val="dk1"/>
              </a:buClr>
              <a:buSzPts val="3200"/>
              <a:buNone/>
            </a:pPr>
            <a:r>
              <a:rPr lang="en-US">
                <a:latin typeface="Bodoni"/>
                <a:ea typeface="Bodoni"/>
                <a:cs typeface="Bodoni"/>
                <a:sym typeface="Bodoni"/>
              </a:rPr>
              <a:t>Hello, World</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Shells and Beyond</a:t>
            </a:r>
            <a:endParaRPr/>
          </a:p>
        </p:txBody>
      </p:sp>
      <p:sp>
        <p:nvSpPr>
          <p:cNvPr id="179" name="Google Shape;179;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i="1" lang="en-US"/>
              <a:t>Package Management</a:t>
            </a:r>
            <a:r>
              <a:rPr lang="en-US"/>
              <a:t> - The PyPA recommended tool for installing Python packages is </a:t>
            </a:r>
            <a:r>
              <a:rPr lang="en-US" u="sng">
                <a:solidFill>
                  <a:schemeClr val="hlink"/>
                </a:solidFill>
                <a:hlinkClick r:id="rId3"/>
              </a:rPr>
              <a:t>PIP</a:t>
            </a:r>
            <a:r>
              <a:rPr lang="en-US"/>
              <a:t>. To install, on your command line execute pip install &lt;the package name&gt;. For instance, pip install numpy. (Note: On windows you must add pip to your PATH environment variables. To avoid this, use </a:t>
            </a:r>
            <a:r>
              <a:rPr lang="en-US">
                <a:latin typeface="Bodoni"/>
                <a:ea typeface="Bodoni"/>
                <a:cs typeface="Bodoni"/>
                <a:sym typeface="Bodoni"/>
              </a:rPr>
              <a:t>python -m pip install &lt;the package name&gt;)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Creating variables and assigning values</a:t>
            </a:r>
            <a:endParaRPr/>
          </a:p>
        </p:txBody>
      </p:sp>
      <p:sp>
        <p:nvSpPr>
          <p:cNvPr id="186" name="Google Shape;186;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To create a variable in Python, all you need to do is specify the variable name, and then assign a value to it.</a:t>
            </a:r>
            <a:endParaRPr/>
          </a:p>
          <a:p>
            <a:pPr indent="0" lvl="0" marL="0" rtl="0" algn="l">
              <a:spcBef>
                <a:spcPts val="480"/>
              </a:spcBef>
              <a:spcAft>
                <a:spcPts val="0"/>
              </a:spcAft>
              <a:buClr>
                <a:schemeClr val="dk1"/>
              </a:buClr>
              <a:buSzPts val="2400"/>
              <a:buNone/>
            </a:pPr>
            <a:r>
              <a:rPr lang="en-US" sz="2400">
                <a:latin typeface="Bodoni"/>
                <a:ea typeface="Bodoni"/>
                <a:cs typeface="Bodoni"/>
                <a:sym typeface="Bodoni"/>
              </a:rPr>
              <a:t>&lt;variable name&gt; = &lt;value&gt;</a:t>
            </a:r>
            <a:endParaRPr/>
          </a:p>
        </p:txBody>
      </p:sp>
      <p:pic>
        <p:nvPicPr>
          <p:cNvPr id="187" name="Google Shape;187;p27"/>
          <p:cNvPicPr preferRelativeResize="0"/>
          <p:nvPr/>
        </p:nvPicPr>
        <p:blipFill rotWithShape="1">
          <a:blip r:embed="rId3">
            <a:alphaModFix/>
          </a:blip>
          <a:srcRect b="0" l="0" r="0" t="0"/>
          <a:stretch/>
        </p:blipFill>
        <p:spPr>
          <a:xfrm>
            <a:off x="7236296" y="2564904"/>
            <a:ext cx="1774487" cy="4192314"/>
          </a:xfrm>
          <a:prstGeom prst="rect">
            <a:avLst/>
          </a:prstGeom>
          <a:noFill/>
          <a:ln>
            <a:noFill/>
          </a:ln>
        </p:spPr>
      </p:pic>
      <p:sp>
        <p:nvSpPr>
          <p:cNvPr id="188" name="Google Shape;188;p27"/>
          <p:cNvSpPr txBox="1"/>
          <p:nvPr/>
        </p:nvSpPr>
        <p:spPr>
          <a:xfrm>
            <a:off x="467545" y="2849832"/>
            <a:ext cx="6696744" cy="353943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Variable assignment works from left to right. So the following will give you an syntax error</a:t>
            </a:r>
            <a:endParaRPr/>
          </a:p>
          <a:p>
            <a:pPr indent="0" lvl="0" marL="0" marR="0" rtl="0" algn="l">
              <a:spcBef>
                <a:spcPts val="0"/>
              </a:spcBef>
              <a:spcAft>
                <a:spcPts val="0"/>
              </a:spcAft>
              <a:buNone/>
            </a:pPr>
            <a:r>
              <a:rPr b="0" i="0" lang="en-US" sz="2400" u="none" cap="none" strike="noStrike">
                <a:solidFill>
                  <a:schemeClr val="dk1"/>
                </a:solidFill>
                <a:latin typeface="Bodoni"/>
                <a:ea typeface="Bodoni"/>
                <a:cs typeface="Bodoni"/>
                <a:sym typeface="Bodoni"/>
              </a:rPr>
              <a:t>0 = x </a:t>
            </a:r>
            <a:endParaRPr/>
          </a:p>
          <a:p>
            <a:pPr indent="-457200" lvl="0" marL="457200" marR="0" rtl="0" algn="l">
              <a:spcBef>
                <a:spcPts val="0"/>
              </a:spcBef>
              <a:spcAft>
                <a:spcPts val="0"/>
              </a:spcAft>
              <a:buClr>
                <a:schemeClr val="dk1"/>
              </a:buClr>
              <a:buSzPts val="2400"/>
              <a:buFont typeface="Noto Sans Symbols"/>
              <a:buChar char="⇒"/>
            </a:pPr>
            <a:r>
              <a:rPr lang="en-US" sz="2400">
                <a:solidFill>
                  <a:schemeClr val="dk1"/>
                </a:solidFill>
                <a:latin typeface="Bodoni"/>
                <a:ea typeface="Bodoni"/>
                <a:cs typeface="Bodoni"/>
                <a:sym typeface="Bodoni"/>
              </a:rPr>
              <a:t>Output: SyntaxError: can't assign to literal</a:t>
            </a:r>
            <a:endParaRPr/>
          </a:p>
          <a:p>
            <a:pPr indent="-457200" lvl="0" marL="4572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You can not use python's keywords as a valid variable name. You can see the list of keyword by:</a:t>
            </a:r>
            <a:endParaRPr/>
          </a:p>
          <a:p>
            <a:pPr indent="0" lvl="0" marL="0" marR="0" rtl="0" algn="l">
              <a:spcBef>
                <a:spcPts val="0"/>
              </a:spcBef>
              <a:spcAft>
                <a:spcPts val="0"/>
              </a:spcAft>
              <a:buNone/>
            </a:pPr>
            <a:r>
              <a:rPr lang="en-US" sz="2400">
                <a:solidFill>
                  <a:schemeClr val="dk1"/>
                </a:solidFill>
                <a:latin typeface="Bodoni"/>
                <a:ea typeface="Bodoni"/>
                <a:cs typeface="Bodoni"/>
                <a:sym typeface="Bodoni"/>
              </a:rPr>
              <a:t>import keyword </a:t>
            </a:r>
            <a:endParaRPr/>
          </a:p>
          <a:p>
            <a:pPr indent="0" lvl="0" marL="0" marR="0" rtl="0" algn="l">
              <a:spcBef>
                <a:spcPts val="0"/>
              </a:spcBef>
              <a:spcAft>
                <a:spcPts val="0"/>
              </a:spcAft>
              <a:buNone/>
            </a:pPr>
            <a:r>
              <a:rPr lang="en-US" sz="2400">
                <a:solidFill>
                  <a:schemeClr val="dk1"/>
                </a:solidFill>
                <a:latin typeface="Bodoni"/>
                <a:ea typeface="Bodoni"/>
                <a:cs typeface="Bodoni"/>
                <a:sym typeface="Bodoni"/>
              </a:rPr>
              <a:t>print(keyword.kwlist)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Rules for variable naming</a:t>
            </a:r>
            <a:endParaRPr/>
          </a:p>
        </p:txBody>
      </p:sp>
      <p:sp>
        <p:nvSpPr>
          <p:cNvPr id="195" name="Google Shape;195;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Variables names must start with a letter or an underscore.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remainder of your variable name may consist of letters, numbers and underscores.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Names are case sensitive.</a:t>
            </a:r>
            <a:endParaRPr/>
          </a:p>
        </p:txBody>
      </p:sp>
      <p:pic>
        <p:nvPicPr>
          <p:cNvPr id="196" name="Google Shape;196;p28"/>
          <p:cNvPicPr preferRelativeResize="0"/>
          <p:nvPr/>
        </p:nvPicPr>
        <p:blipFill rotWithShape="1">
          <a:blip r:embed="rId3">
            <a:alphaModFix/>
          </a:blip>
          <a:srcRect b="0" l="0" r="0" t="0"/>
          <a:stretch/>
        </p:blipFill>
        <p:spPr>
          <a:xfrm>
            <a:off x="2555776" y="1988840"/>
            <a:ext cx="2428875" cy="1466850"/>
          </a:xfrm>
          <a:prstGeom prst="rect">
            <a:avLst/>
          </a:prstGeom>
          <a:noFill/>
          <a:ln>
            <a:noFill/>
          </a:ln>
        </p:spPr>
      </p:pic>
      <p:pic>
        <p:nvPicPr>
          <p:cNvPr id="197" name="Google Shape;197;p28"/>
          <p:cNvPicPr preferRelativeResize="0"/>
          <p:nvPr/>
        </p:nvPicPr>
        <p:blipFill rotWithShape="1">
          <a:blip r:embed="rId4">
            <a:alphaModFix/>
          </a:blip>
          <a:srcRect b="0" l="0" r="0" t="0"/>
          <a:stretch/>
        </p:blipFill>
        <p:spPr>
          <a:xfrm>
            <a:off x="2547767" y="4221088"/>
            <a:ext cx="2019300" cy="361950"/>
          </a:xfrm>
          <a:prstGeom prst="rect">
            <a:avLst/>
          </a:prstGeom>
          <a:noFill/>
          <a:ln>
            <a:noFill/>
          </a:ln>
        </p:spPr>
      </p:pic>
      <p:pic>
        <p:nvPicPr>
          <p:cNvPr id="198" name="Google Shape;198;p28"/>
          <p:cNvPicPr preferRelativeResize="0"/>
          <p:nvPr/>
        </p:nvPicPr>
        <p:blipFill rotWithShape="1">
          <a:blip r:embed="rId5">
            <a:alphaModFix/>
          </a:blip>
          <a:srcRect b="0" l="0" r="0" t="0"/>
          <a:stretch/>
        </p:blipFill>
        <p:spPr>
          <a:xfrm>
            <a:off x="2474813" y="5157192"/>
            <a:ext cx="25908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467544" y="18864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Built-in type</a:t>
            </a:r>
            <a:endParaRPr/>
          </a:p>
        </p:txBody>
      </p:sp>
      <p:sp>
        <p:nvSpPr>
          <p:cNvPr id="204" name="Google Shape;204;p29"/>
          <p:cNvSpPr txBox="1"/>
          <p:nvPr>
            <p:ph idx="1" type="body"/>
          </p:nvPr>
        </p:nvSpPr>
        <p:spPr>
          <a:xfrm>
            <a:off x="395536" y="1052736"/>
            <a:ext cx="8229600" cy="5400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There's no need to specify a data type when declaring a variable in Python, the Python interpreter automatically picks the most suitable </a:t>
            </a:r>
            <a:r>
              <a:rPr lang="en-US" u="sng">
                <a:solidFill>
                  <a:schemeClr val="hlink"/>
                </a:solidFill>
                <a:hlinkClick r:id="rId3"/>
              </a:rPr>
              <a:t>built-in type</a:t>
            </a:r>
            <a:r>
              <a:rPr lang="en-US"/>
              <a:t> for it:</a:t>
            </a:r>
            <a:endParaRPr/>
          </a:p>
        </p:txBody>
      </p:sp>
      <p:pic>
        <p:nvPicPr>
          <p:cNvPr id="205" name="Google Shape;205;p29"/>
          <p:cNvPicPr preferRelativeResize="0"/>
          <p:nvPr/>
        </p:nvPicPr>
        <p:blipFill rotWithShape="1">
          <a:blip r:embed="rId4">
            <a:alphaModFix/>
          </a:blip>
          <a:srcRect b="0" l="0" r="0" t="0"/>
          <a:stretch/>
        </p:blipFill>
        <p:spPr>
          <a:xfrm>
            <a:off x="6876256" y="2060848"/>
            <a:ext cx="2162175" cy="4524375"/>
          </a:xfrm>
          <a:prstGeom prst="rect">
            <a:avLst/>
          </a:prstGeom>
          <a:noFill/>
          <a:ln>
            <a:noFill/>
          </a:ln>
        </p:spPr>
      </p:pic>
      <p:sp>
        <p:nvSpPr>
          <p:cNvPr id="206" name="Google Shape;206;p29"/>
          <p:cNvSpPr txBox="1"/>
          <p:nvPr/>
        </p:nvSpPr>
        <p:spPr>
          <a:xfrm>
            <a:off x="611560" y="3068960"/>
            <a:ext cx="6120680" cy="3293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When you use = to do an assignment operation, what's on the left of = is a </a:t>
            </a:r>
            <a:r>
              <a:rPr b="1" i="1" lang="en-US" sz="1600">
                <a:solidFill>
                  <a:schemeClr val="dk1"/>
                </a:solidFill>
                <a:latin typeface="Calibri"/>
                <a:ea typeface="Calibri"/>
                <a:cs typeface="Calibri"/>
                <a:sym typeface="Calibri"/>
              </a:rPr>
              <a:t>name</a:t>
            </a:r>
            <a:r>
              <a:rPr lang="en-US" sz="1600">
                <a:solidFill>
                  <a:schemeClr val="dk1"/>
                </a:solidFill>
                <a:latin typeface="Calibri"/>
                <a:ea typeface="Calibri"/>
                <a:cs typeface="Calibri"/>
                <a:sym typeface="Calibri"/>
              </a:rPr>
              <a:t> for the </a:t>
            </a:r>
            <a:r>
              <a:rPr b="1" i="1" lang="en-US" sz="1600">
                <a:solidFill>
                  <a:schemeClr val="dk1"/>
                </a:solidFill>
                <a:latin typeface="Calibri"/>
                <a:ea typeface="Calibri"/>
                <a:cs typeface="Calibri"/>
                <a:sym typeface="Calibri"/>
              </a:rPr>
              <a:t>object</a:t>
            </a:r>
            <a:r>
              <a:rPr lang="en-US" sz="1600">
                <a:solidFill>
                  <a:schemeClr val="dk1"/>
                </a:solidFill>
                <a:latin typeface="Calibri"/>
                <a:ea typeface="Calibri"/>
                <a:cs typeface="Calibri"/>
                <a:sym typeface="Calibri"/>
              </a:rPr>
              <a:t> on the right. Finally, what = does is assign the </a:t>
            </a:r>
            <a:r>
              <a:rPr b="1" i="1" lang="en-US" sz="1600">
                <a:solidFill>
                  <a:schemeClr val="dk1"/>
                </a:solidFill>
                <a:latin typeface="Calibri"/>
                <a:ea typeface="Calibri"/>
                <a:cs typeface="Calibri"/>
                <a:sym typeface="Calibri"/>
              </a:rPr>
              <a:t>reference</a:t>
            </a:r>
            <a:r>
              <a:rPr lang="en-US" sz="1600">
                <a:solidFill>
                  <a:schemeClr val="dk1"/>
                </a:solidFill>
                <a:latin typeface="Calibri"/>
                <a:ea typeface="Calibri"/>
                <a:cs typeface="Calibri"/>
                <a:sym typeface="Calibri"/>
              </a:rPr>
              <a:t> of the object on the right to the </a:t>
            </a:r>
            <a:r>
              <a:rPr b="1" i="1" lang="en-US" sz="1600">
                <a:solidFill>
                  <a:schemeClr val="dk1"/>
                </a:solidFill>
                <a:latin typeface="Calibri"/>
                <a:ea typeface="Calibri"/>
                <a:cs typeface="Calibri"/>
                <a:sym typeface="Calibri"/>
              </a:rPr>
              <a:t>name</a:t>
            </a:r>
            <a:r>
              <a:rPr lang="en-US" sz="1600">
                <a:solidFill>
                  <a:schemeClr val="dk1"/>
                </a:solidFill>
                <a:latin typeface="Calibri"/>
                <a:ea typeface="Calibri"/>
                <a:cs typeface="Calibri"/>
                <a:sym typeface="Calibri"/>
              </a:rPr>
              <a:t> on the left.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That is:</a:t>
            </a:r>
            <a:endParaRPr/>
          </a:p>
          <a:p>
            <a:pPr indent="0" lvl="0" marL="0" marR="0" rtl="0" algn="l">
              <a:spcBef>
                <a:spcPts val="0"/>
              </a:spcBef>
              <a:spcAft>
                <a:spcPts val="0"/>
              </a:spcAft>
              <a:buNone/>
            </a:pPr>
            <a:r>
              <a:rPr lang="en-US" sz="2800">
                <a:solidFill>
                  <a:schemeClr val="dk1"/>
                </a:solidFill>
                <a:latin typeface="Bodoni"/>
                <a:ea typeface="Bodoni"/>
                <a:cs typeface="Bodoni"/>
                <a:sym typeface="Bodoni"/>
              </a:rPr>
              <a:t>a_name = an_object # "a_name" is now a name for the reference to the object "an_object“</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if we pick pi = 3.14, then pi is </a:t>
            </a:r>
            <a:r>
              <a:rPr b="1" lang="en-US" sz="2000">
                <a:solidFill>
                  <a:schemeClr val="dk1"/>
                </a:solidFill>
                <a:latin typeface="Calibri"/>
                <a:ea typeface="Calibri"/>
                <a:cs typeface="Calibri"/>
                <a:sym typeface="Calibri"/>
              </a:rPr>
              <a:t>a</a:t>
            </a:r>
            <a:r>
              <a:rPr lang="en-US" sz="2000">
                <a:solidFill>
                  <a:schemeClr val="dk1"/>
                </a:solidFill>
                <a:latin typeface="Calibri"/>
                <a:ea typeface="Calibri"/>
                <a:cs typeface="Calibri"/>
                <a:sym typeface="Calibri"/>
              </a:rPr>
              <a:t> name (not </a:t>
            </a:r>
            <a:r>
              <a:rPr b="1" lang="en-US" sz="2000">
                <a:solidFill>
                  <a:schemeClr val="dk1"/>
                </a:solidFill>
                <a:latin typeface="Calibri"/>
                <a:ea typeface="Calibri"/>
                <a:cs typeface="Calibri"/>
                <a:sym typeface="Calibri"/>
              </a:rPr>
              <a:t>the</a:t>
            </a:r>
            <a:r>
              <a:rPr lang="en-US" sz="2000">
                <a:solidFill>
                  <a:schemeClr val="dk1"/>
                </a:solidFill>
                <a:latin typeface="Calibri"/>
                <a:ea typeface="Calibri"/>
                <a:cs typeface="Calibri"/>
                <a:sym typeface="Calibri"/>
              </a:rPr>
              <a:t> name, since an object can have multiple names) for the object 3.14</a:t>
            </a:r>
            <a:endParaRPr sz="2000">
              <a:solidFill>
                <a:schemeClr val="dk1"/>
              </a:solidFill>
              <a:latin typeface="Bodoni"/>
              <a:ea typeface="Bodoni"/>
              <a:cs typeface="Bodoni"/>
              <a:sym typeface="Bodon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 operator</a:t>
            </a:r>
            <a:endParaRPr/>
          </a:p>
        </p:txBody>
      </p:sp>
      <p:sp>
        <p:nvSpPr>
          <p:cNvPr id="212" name="Google Shape;212;p30"/>
          <p:cNvSpPr txBox="1"/>
          <p:nvPr>
            <p:ph idx="1" type="body"/>
          </p:nvPr>
        </p:nvSpPr>
        <p:spPr>
          <a:xfrm>
            <a:off x="457200" y="1340768"/>
            <a:ext cx="8229600" cy="478539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You can assign multiple values to multiple variables in one line. Note that there must be the same number of arguments on the right and left sides of the = operator:</a:t>
            </a:r>
            <a:endParaRPr/>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342900" lvl="0" marL="342900" rtl="0" algn="l">
              <a:spcBef>
                <a:spcPts val="400"/>
              </a:spcBef>
              <a:spcAft>
                <a:spcPts val="0"/>
              </a:spcAft>
              <a:buClr>
                <a:schemeClr val="dk1"/>
              </a:buClr>
              <a:buSzPts val="2000"/>
              <a:buChar char="•"/>
            </a:pPr>
            <a:r>
              <a:rPr lang="en-US" sz="2000"/>
              <a:t>The error in last example can be obviated by assigning remaining values to equal number of arbitrary variables.</a:t>
            </a:r>
            <a:endParaRPr/>
          </a:p>
          <a:p>
            <a:pPr indent="-215900" lvl="0" marL="342900" rtl="0" algn="l">
              <a:spcBef>
                <a:spcPts val="400"/>
              </a:spcBef>
              <a:spcAft>
                <a:spcPts val="0"/>
              </a:spcAft>
              <a:buClr>
                <a:schemeClr val="dk1"/>
              </a:buClr>
              <a:buSzPts val="2000"/>
              <a:buNone/>
            </a:pPr>
            <a:r>
              <a:t/>
            </a:r>
            <a:endParaRPr sz="2000"/>
          </a:p>
        </p:txBody>
      </p:sp>
      <p:pic>
        <p:nvPicPr>
          <p:cNvPr id="213" name="Google Shape;213;p30"/>
          <p:cNvPicPr preferRelativeResize="0"/>
          <p:nvPr/>
        </p:nvPicPr>
        <p:blipFill rotWithShape="1">
          <a:blip r:embed="rId3">
            <a:alphaModFix/>
          </a:blip>
          <a:srcRect b="0" l="0" r="0" t="0"/>
          <a:stretch/>
        </p:blipFill>
        <p:spPr>
          <a:xfrm>
            <a:off x="3419872" y="2133600"/>
            <a:ext cx="3381375" cy="2590800"/>
          </a:xfrm>
          <a:prstGeom prst="rect">
            <a:avLst/>
          </a:prstGeom>
          <a:noFill/>
          <a:ln>
            <a:noFill/>
          </a:ln>
        </p:spPr>
      </p:pic>
      <p:pic>
        <p:nvPicPr>
          <p:cNvPr id="214" name="Google Shape;214;p30"/>
          <p:cNvPicPr preferRelativeResize="0"/>
          <p:nvPr/>
        </p:nvPicPr>
        <p:blipFill rotWithShape="1">
          <a:blip r:embed="rId4">
            <a:alphaModFix/>
          </a:blip>
          <a:srcRect b="0" l="0" r="0" t="0"/>
          <a:stretch/>
        </p:blipFill>
        <p:spPr>
          <a:xfrm>
            <a:off x="3419872" y="5589240"/>
            <a:ext cx="1381125" cy="676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20" name="Google Shape;220;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Note that the number of _ and number of remaining values must be equal. Otherwise 'too many values to unpack error' is thrown as above:</a:t>
            </a:r>
            <a:endParaRPr/>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You can also assign a single value to several variables simultaneously.</a:t>
            </a:r>
            <a:endParaRPr/>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When using such cascading assignment, it is important to note that all three variables a, b and c refer to the </a:t>
            </a:r>
            <a:r>
              <a:rPr i="1" lang="en-US" sz="1800"/>
              <a:t>same object</a:t>
            </a:r>
            <a:r>
              <a:rPr lang="en-US" sz="1800"/>
              <a:t> in memory, an int object with the value of 1. </a:t>
            </a:r>
            <a:endParaRPr/>
          </a:p>
        </p:txBody>
      </p:sp>
      <p:pic>
        <p:nvPicPr>
          <p:cNvPr id="221" name="Google Shape;221;p31"/>
          <p:cNvPicPr preferRelativeResize="0"/>
          <p:nvPr/>
        </p:nvPicPr>
        <p:blipFill rotWithShape="1">
          <a:blip r:embed="rId3">
            <a:alphaModFix/>
          </a:blip>
          <a:srcRect b="0" l="0" r="0" t="0"/>
          <a:stretch/>
        </p:blipFill>
        <p:spPr>
          <a:xfrm>
            <a:off x="2627784" y="2276872"/>
            <a:ext cx="3686175" cy="962025"/>
          </a:xfrm>
          <a:prstGeom prst="rect">
            <a:avLst/>
          </a:prstGeom>
          <a:noFill/>
          <a:ln>
            <a:noFill/>
          </a:ln>
        </p:spPr>
      </p:pic>
      <p:pic>
        <p:nvPicPr>
          <p:cNvPr id="222" name="Google Shape;222;p31"/>
          <p:cNvPicPr preferRelativeResize="0"/>
          <p:nvPr/>
        </p:nvPicPr>
        <p:blipFill rotWithShape="1">
          <a:blip r:embed="rId4">
            <a:alphaModFix/>
          </a:blip>
          <a:srcRect b="0" l="0" r="0" t="0"/>
          <a:stretch/>
        </p:blipFill>
        <p:spPr>
          <a:xfrm>
            <a:off x="2627784" y="3789040"/>
            <a:ext cx="1219200" cy="590550"/>
          </a:xfrm>
          <a:prstGeom prst="rect">
            <a:avLst/>
          </a:prstGeom>
          <a:noFill/>
          <a:ln>
            <a:noFill/>
          </a:ln>
        </p:spPr>
      </p:pic>
      <p:pic>
        <p:nvPicPr>
          <p:cNvPr id="223" name="Google Shape;223;p31"/>
          <p:cNvPicPr preferRelativeResize="0"/>
          <p:nvPr/>
        </p:nvPicPr>
        <p:blipFill rotWithShape="1">
          <a:blip r:embed="rId5">
            <a:alphaModFix/>
          </a:blip>
          <a:srcRect b="0" l="0" r="0" t="0"/>
          <a:stretch/>
        </p:blipFill>
        <p:spPr>
          <a:xfrm>
            <a:off x="2627784" y="5157192"/>
            <a:ext cx="5705475" cy="1152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29" name="Google Shape;229;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The above is also true for mutable types (like list, dict, etc.) just as it is true for immutable types (like int, string, tuple, etc.):</a:t>
            </a:r>
            <a:endParaRPr/>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342900" lvl="0" marL="342900" rtl="0" algn="l">
              <a:spcBef>
                <a:spcPts val="400"/>
              </a:spcBef>
              <a:spcAft>
                <a:spcPts val="0"/>
              </a:spcAft>
              <a:buClr>
                <a:schemeClr val="dk1"/>
              </a:buClr>
              <a:buSzPts val="2000"/>
              <a:buChar char="•"/>
            </a:pPr>
            <a:r>
              <a:rPr lang="en-US" sz="2000"/>
              <a:t>Things are a bit different when it comes to </a:t>
            </a:r>
            <a:r>
              <a:rPr i="1" lang="en-US" sz="2000"/>
              <a:t>modifying</a:t>
            </a:r>
            <a:r>
              <a:rPr lang="en-US" sz="2000"/>
              <a:t> the object:</a:t>
            </a:r>
            <a:endParaRPr/>
          </a:p>
          <a:p>
            <a:pPr indent="-215900" lvl="0" marL="342900" rtl="0" algn="l">
              <a:spcBef>
                <a:spcPts val="400"/>
              </a:spcBef>
              <a:spcAft>
                <a:spcPts val="0"/>
              </a:spcAft>
              <a:buClr>
                <a:schemeClr val="dk1"/>
              </a:buClr>
              <a:buSzPts val="2000"/>
              <a:buNone/>
            </a:pPr>
            <a:r>
              <a:t/>
            </a:r>
            <a:endParaRPr sz="2000"/>
          </a:p>
        </p:txBody>
      </p:sp>
      <p:pic>
        <p:nvPicPr>
          <p:cNvPr id="230" name="Google Shape;230;p32"/>
          <p:cNvPicPr preferRelativeResize="0"/>
          <p:nvPr/>
        </p:nvPicPr>
        <p:blipFill rotWithShape="1">
          <a:blip r:embed="rId3">
            <a:alphaModFix/>
          </a:blip>
          <a:srcRect b="0" l="0" r="0" t="0"/>
          <a:stretch/>
        </p:blipFill>
        <p:spPr>
          <a:xfrm>
            <a:off x="2051720" y="2348880"/>
            <a:ext cx="5867400" cy="857250"/>
          </a:xfrm>
          <a:prstGeom prst="rect">
            <a:avLst/>
          </a:prstGeom>
          <a:noFill/>
          <a:ln>
            <a:noFill/>
          </a:ln>
        </p:spPr>
      </p:pic>
      <p:pic>
        <p:nvPicPr>
          <p:cNvPr id="231" name="Google Shape;231;p32"/>
          <p:cNvPicPr preferRelativeResize="0"/>
          <p:nvPr/>
        </p:nvPicPr>
        <p:blipFill rotWithShape="1">
          <a:blip r:embed="rId4">
            <a:alphaModFix/>
          </a:blip>
          <a:srcRect b="0" l="0" r="0" t="0"/>
          <a:stretch/>
        </p:blipFill>
        <p:spPr>
          <a:xfrm>
            <a:off x="2051720" y="3838345"/>
            <a:ext cx="6400800" cy="790575"/>
          </a:xfrm>
          <a:prstGeom prst="rect">
            <a:avLst/>
          </a:prstGeom>
          <a:noFill/>
          <a:ln>
            <a:noFill/>
          </a:ln>
        </p:spPr>
      </p:pic>
      <p:pic>
        <p:nvPicPr>
          <p:cNvPr id="232" name="Google Shape;232;p32"/>
          <p:cNvPicPr preferRelativeResize="0"/>
          <p:nvPr/>
        </p:nvPicPr>
        <p:blipFill rotWithShape="1">
          <a:blip r:embed="rId5">
            <a:alphaModFix/>
          </a:blip>
          <a:srcRect b="0" l="0" r="0" t="0"/>
          <a:stretch/>
        </p:blipFill>
        <p:spPr>
          <a:xfrm>
            <a:off x="2483768" y="4862903"/>
            <a:ext cx="3867150" cy="1895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8" name="Google Shape;238;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Nested lists are also valid in python. This means that a list can contain another list as an element.</a:t>
            </a:r>
            <a:endParaRPr/>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342900" lvl="0" marL="342900" rtl="0" algn="l">
              <a:spcBef>
                <a:spcPts val="400"/>
              </a:spcBef>
              <a:spcAft>
                <a:spcPts val="0"/>
              </a:spcAft>
              <a:buClr>
                <a:schemeClr val="dk1"/>
              </a:buClr>
              <a:buSzPts val="2000"/>
              <a:buChar char="•"/>
            </a:pPr>
            <a:r>
              <a:rPr lang="en-US" sz="2000"/>
              <a:t>Lastly, variables in Python do not have to stay the same type as which they were first defined -- you can simply use = to assign a new value to a variable, even if that value is of a different type.</a:t>
            </a:r>
            <a:endParaRPr/>
          </a:p>
        </p:txBody>
      </p:sp>
      <p:pic>
        <p:nvPicPr>
          <p:cNvPr id="239" name="Google Shape;239;p33"/>
          <p:cNvPicPr preferRelativeResize="0"/>
          <p:nvPr/>
        </p:nvPicPr>
        <p:blipFill rotWithShape="1">
          <a:blip r:embed="rId3">
            <a:alphaModFix/>
          </a:blip>
          <a:srcRect b="0" l="0" r="0" t="0"/>
          <a:stretch/>
        </p:blipFill>
        <p:spPr>
          <a:xfrm>
            <a:off x="3851920" y="2132856"/>
            <a:ext cx="3524250" cy="990600"/>
          </a:xfrm>
          <a:prstGeom prst="rect">
            <a:avLst/>
          </a:prstGeom>
          <a:noFill/>
          <a:ln>
            <a:noFill/>
          </a:ln>
        </p:spPr>
      </p:pic>
      <p:pic>
        <p:nvPicPr>
          <p:cNvPr id="240" name="Google Shape;240;p33"/>
          <p:cNvPicPr preferRelativeResize="0"/>
          <p:nvPr/>
        </p:nvPicPr>
        <p:blipFill rotWithShape="1">
          <a:blip r:embed="rId4">
            <a:alphaModFix/>
          </a:blip>
          <a:srcRect b="0" l="0" r="0" t="0"/>
          <a:stretch/>
        </p:blipFill>
        <p:spPr>
          <a:xfrm>
            <a:off x="3851920" y="4578421"/>
            <a:ext cx="1733550" cy="1323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Block Indentation </a:t>
            </a:r>
            <a:endParaRPr/>
          </a:p>
        </p:txBody>
      </p:sp>
      <p:sp>
        <p:nvSpPr>
          <p:cNvPr id="246" name="Google Shape;246;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Python uses indentation (1-tab or spaces) to define control and loop constructs. This contributes to Python's readability, however, it requires the programmer to pay close attention to the use of whitespace. Thus, editor miscalibration could result in code that behaves in unexpected ways.</a:t>
            </a:r>
            <a:endParaRPr/>
          </a:p>
          <a:p>
            <a:pPr indent="-342900" lvl="0" marL="342900" rtl="0" algn="l">
              <a:spcBef>
                <a:spcPts val="496"/>
              </a:spcBef>
              <a:spcAft>
                <a:spcPts val="0"/>
              </a:spcAft>
              <a:buClr>
                <a:schemeClr val="dk1"/>
              </a:buClr>
              <a:buSzPct val="100000"/>
              <a:buChar char="•"/>
            </a:pPr>
            <a:r>
              <a:rPr lang="en-US"/>
              <a:t>Python uses the colon symbol (:) and indentation for showing where blocks of code begin and end (If you come from another language, do not confuse this with somehow being related to the </a:t>
            </a:r>
            <a:r>
              <a:rPr lang="en-US" u="sng">
                <a:solidFill>
                  <a:schemeClr val="hlink"/>
                </a:solidFill>
                <a:hlinkClick r:id="rId3"/>
              </a:rPr>
              <a:t>ternary operator</a:t>
            </a:r>
            <a:r>
              <a:rPr lang="en-US"/>
              <a:t>). That is, blocks in Python, such as functions, loops, if clauses and other constructs, have no ending identifiers. All blocks start with a colon and then contain the indented lines below it.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52" name="Google Shape;252;p35"/>
          <p:cNvPicPr preferRelativeResize="0"/>
          <p:nvPr>
            <p:ph idx="1" type="body"/>
          </p:nvPr>
        </p:nvPicPr>
        <p:blipFill rotWithShape="1">
          <a:blip r:embed="rId3">
            <a:alphaModFix/>
          </a:blip>
          <a:srcRect b="0" l="0" r="0" t="0"/>
          <a:stretch/>
        </p:blipFill>
        <p:spPr>
          <a:xfrm>
            <a:off x="457200" y="227075"/>
            <a:ext cx="4752613" cy="2947466"/>
          </a:xfrm>
          <a:prstGeom prst="rect">
            <a:avLst/>
          </a:prstGeom>
          <a:noFill/>
          <a:ln>
            <a:noFill/>
          </a:ln>
        </p:spPr>
      </p:pic>
      <p:pic>
        <p:nvPicPr>
          <p:cNvPr id="253" name="Google Shape;253;p35"/>
          <p:cNvPicPr preferRelativeResize="0"/>
          <p:nvPr/>
        </p:nvPicPr>
        <p:blipFill rotWithShape="1">
          <a:blip r:embed="rId4">
            <a:alphaModFix/>
          </a:blip>
          <a:srcRect b="0" l="0" r="0" t="0"/>
          <a:stretch/>
        </p:blipFill>
        <p:spPr>
          <a:xfrm>
            <a:off x="3995936" y="3573016"/>
            <a:ext cx="4673974" cy="25202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7" name="Shape 257"/>
        <p:cNvGrpSpPr/>
        <p:nvPr/>
      </p:nvGrpSpPr>
      <p:grpSpPr>
        <a:xfrm>
          <a:off x="0" y="0"/>
          <a:ext cx="0" cy="0"/>
          <a:chOff x="0" y="0"/>
          <a:chExt cx="0" cy="0"/>
        </a:xfrm>
      </p:grpSpPr>
      <p:pic>
        <p:nvPicPr>
          <p:cNvPr id="258" name="Google Shape;258;p36"/>
          <p:cNvPicPr preferRelativeResize="0"/>
          <p:nvPr>
            <p:ph idx="1" type="body"/>
          </p:nvPr>
        </p:nvPicPr>
        <p:blipFill rotWithShape="1">
          <a:blip r:embed="rId3">
            <a:alphaModFix/>
          </a:blip>
          <a:srcRect b="0" l="0" r="0" t="0"/>
          <a:stretch/>
        </p:blipFill>
        <p:spPr>
          <a:xfrm>
            <a:off x="2094707" y="332656"/>
            <a:ext cx="5285605" cy="61805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2" name="Shape 262"/>
        <p:cNvGrpSpPr/>
        <p:nvPr/>
      </p:nvGrpSpPr>
      <p:grpSpPr>
        <a:xfrm>
          <a:off x="0" y="0"/>
          <a:ext cx="0" cy="0"/>
          <a:chOff x="0" y="0"/>
          <a:chExt cx="0" cy="0"/>
        </a:xfrm>
      </p:grpSpPr>
      <p:sp>
        <p:nvSpPr>
          <p:cNvPr id="263" name="Google Shape;26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Spaces vs. Tabs</a:t>
            </a:r>
            <a:endParaRPr/>
          </a:p>
        </p:txBody>
      </p:sp>
      <p:sp>
        <p:nvSpPr>
          <p:cNvPr id="264" name="Google Shape;264;p37"/>
          <p:cNvSpPr txBox="1"/>
          <p:nvPr>
            <p:ph idx="1" type="body"/>
          </p:nvPr>
        </p:nvSpPr>
        <p:spPr>
          <a:xfrm>
            <a:off x="457200" y="1268760"/>
            <a:ext cx="8229600" cy="5400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In short: </a:t>
            </a:r>
            <a:r>
              <a:rPr b="1" lang="en-US" sz="1800"/>
              <a:t>always</a:t>
            </a:r>
            <a:r>
              <a:rPr lang="en-US" sz="1800"/>
              <a:t> use 4 spaces for indentation. Using tabs exclusively is possible but </a:t>
            </a:r>
            <a:r>
              <a:rPr lang="en-US" sz="1800" u="sng">
                <a:solidFill>
                  <a:schemeClr val="hlink"/>
                </a:solidFill>
                <a:hlinkClick r:id="rId3"/>
              </a:rPr>
              <a:t>PEP 8</a:t>
            </a:r>
            <a:r>
              <a:rPr lang="en-US" sz="1800"/>
              <a:t>, the style guide for Python code, states that spaces are preferred.</a:t>
            </a:r>
            <a:endParaRPr/>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Many editors have "tabs to spaces" configuration. When configuring the editor, one should differentiate between the tab </a:t>
            </a:r>
            <a:r>
              <a:rPr i="1" lang="en-US" sz="1800"/>
              <a:t>character</a:t>
            </a:r>
            <a:r>
              <a:rPr lang="en-US" sz="1800"/>
              <a:t> ('\t') and the Tab key.</a:t>
            </a:r>
            <a:endParaRPr/>
          </a:p>
        </p:txBody>
      </p:sp>
      <p:pic>
        <p:nvPicPr>
          <p:cNvPr id="265" name="Google Shape;265;p37"/>
          <p:cNvPicPr preferRelativeResize="0"/>
          <p:nvPr/>
        </p:nvPicPr>
        <p:blipFill rotWithShape="1">
          <a:blip r:embed="rId4">
            <a:alphaModFix/>
          </a:blip>
          <a:srcRect b="0" l="0" r="0" t="0"/>
          <a:stretch/>
        </p:blipFill>
        <p:spPr>
          <a:xfrm>
            <a:off x="1403648" y="1988840"/>
            <a:ext cx="6562725" cy="3009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Built-in Types</a:t>
            </a:r>
            <a:br>
              <a:rPr b="1" lang="en-US"/>
            </a:br>
            <a:r>
              <a:rPr b="1" lang="en-US"/>
              <a:t>Boolean</a:t>
            </a:r>
            <a:endParaRPr/>
          </a:p>
        </p:txBody>
      </p:sp>
      <p:sp>
        <p:nvSpPr>
          <p:cNvPr id="271" name="Google Shape;271;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bool: A boolean value of either True or False. Logical operations like and, or, not can be performed on booleans.</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x or y # if x is False then y otherwise x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x and y # if x is False then x otherwise y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not x # if x is True then False, otherwise True</a:t>
            </a:r>
            <a:endParaRPr/>
          </a:p>
          <a:p>
            <a:pPr indent="-185420" lvl="0" marL="342900" rtl="0" algn="l">
              <a:spcBef>
                <a:spcPts val="496"/>
              </a:spcBef>
              <a:spcAft>
                <a:spcPts val="0"/>
              </a:spcAft>
              <a:buClr>
                <a:schemeClr val="dk1"/>
              </a:buClr>
              <a:buSzPct val="100000"/>
              <a:buNone/>
            </a:pPr>
            <a:r>
              <a:t/>
            </a:r>
            <a:endParaRPr/>
          </a:p>
          <a:p>
            <a:pPr indent="-342900" lvl="0" marL="342900" rtl="0" algn="l">
              <a:spcBef>
                <a:spcPts val="496"/>
              </a:spcBef>
              <a:spcAft>
                <a:spcPts val="0"/>
              </a:spcAft>
              <a:buClr>
                <a:schemeClr val="dk1"/>
              </a:buClr>
              <a:buSzPct val="100000"/>
              <a:buChar char="•"/>
            </a:pPr>
            <a:r>
              <a:rPr lang="en-US"/>
              <a:t>In Python 2.x and in Python 3.x, a boolean is also an int. The bool type is a subclass of the int type and True and False are its only instances:</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issubclass(bool, int) # True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isinstance(True, bool) # True </a:t>
            </a:r>
            <a:endParaRPr/>
          </a:p>
          <a:p>
            <a:pPr indent="0" lvl="0" marL="0" rtl="0" algn="l">
              <a:spcBef>
                <a:spcPts val="496"/>
              </a:spcBef>
              <a:spcAft>
                <a:spcPts val="0"/>
              </a:spcAft>
              <a:buClr>
                <a:schemeClr val="dk1"/>
              </a:buClr>
              <a:buSzPct val="100000"/>
              <a:buNone/>
            </a:pPr>
            <a:r>
              <a:rPr lang="en-US">
                <a:latin typeface="Bodoni"/>
                <a:ea typeface="Bodoni"/>
                <a:cs typeface="Bodoni"/>
                <a:sym typeface="Bodoni"/>
              </a:rPr>
              <a:t>isinstance(False, bool) # True</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id="276" name="Google Shape;27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Numbers</a:t>
            </a:r>
            <a:endParaRPr/>
          </a:p>
        </p:txBody>
      </p:sp>
      <p:sp>
        <p:nvSpPr>
          <p:cNvPr id="277" name="Google Shape;277;p39"/>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sz="2000"/>
              <a:t>int: Integer number</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a = 2 b = 100 c = 123456789 d = 38563846326424324 </a:t>
            </a:r>
            <a:endParaRPr/>
          </a:p>
          <a:p>
            <a:pPr indent="0" lvl="0" marL="0" rtl="0" algn="l">
              <a:spcBef>
                <a:spcPts val="370"/>
              </a:spcBef>
              <a:spcAft>
                <a:spcPts val="0"/>
              </a:spcAft>
              <a:buClr>
                <a:schemeClr val="dk1"/>
              </a:buClr>
              <a:buSzPct val="100000"/>
              <a:buNone/>
            </a:pPr>
            <a:r>
              <a:t/>
            </a:r>
            <a:endParaRPr sz="2000"/>
          </a:p>
          <a:p>
            <a:pPr indent="0" lvl="0" marL="0" rtl="0" algn="l">
              <a:spcBef>
                <a:spcPts val="370"/>
              </a:spcBef>
              <a:spcAft>
                <a:spcPts val="0"/>
              </a:spcAft>
              <a:buClr>
                <a:schemeClr val="dk1"/>
              </a:buClr>
              <a:buSzPct val="100000"/>
              <a:buNone/>
            </a:pPr>
            <a:r>
              <a:rPr lang="en-US" sz="2000"/>
              <a:t>Integers in Python are of arbitrary sizes.</a:t>
            </a:r>
            <a:endParaRPr/>
          </a:p>
          <a:p>
            <a:pPr indent="0" lvl="0" marL="0" rtl="0" algn="l">
              <a:spcBef>
                <a:spcPts val="370"/>
              </a:spcBef>
              <a:spcAft>
                <a:spcPts val="0"/>
              </a:spcAft>
              <a:buClr>
                <a:schemeClr val="dk1"/>
              </a:buClr>
              <a:buSzPct val="100000"/>
              <a:buNone/>
            </a:pPr>
            <a:r>
              <a:rPr lang="en-US" sz="2000"/>
              <a:t>Note: in older versions of Python, a long type was available and this was distinct from int. The two have been unified.</a:t>
            </a:r>
            <a:endParaRPr/>
          </a:p>
          <a:p>
            <a:pPr indent="-342900" lvl="0" marL="342900" rtl="0" algn="l">
              <a:spcBef>
                <a:spcPts val="370"/>
              </a:spcBef>
              <a:spcAft>
                <a:spcPts val="0"/>
              </a:spcAft>
              <a:buClr>
                <a:schemeClr val="dk1"/>
              </a:buClr>
              <a:buSzPct val="100000"/>
              <a:buChar char="•"/>
            </a:pPr>
            <a:r>
              <a:rPr lang="en-US" sz="2000"/>
              <a:t>float: Floating point number; precision depends on the implementation and system architecture, for CPython the float datatype corresponds to a C double.</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a = 2.0 b = 100.e0 c = 123456789.e1 </a:t>
            </a:r>
            <a:endParaRPr/>
          </a:p>
          <a:p>
            <a:pPr indent="-225425" lvl="0" marL="342900" rtl="0" algn="l">
              <a:spcBef>
                <a:spcPts val="370"/>
              </a:spcBef>
              <a:spcAft>
                <a:spcPts val="0"/>
              </a:spcAft>
              <a:buClr>
                <a:schemeClr val="dk1"/>
              </a:buClr>
              <a:buSzPct val="100000"/>
              <a:buNone/>
            </a:pPr>
            <a:r>
              <a:t/>
            </a:r>
            <a:endParaRPr sz="2000"/>
          </a:p>
          <a:p>
            <a:pPr indent="-342900" lvl="0" marL="342900" rtl="0" algn="l">
              <a:spcBef>
                <a:spcPts val="370"/>
              </a:spcBef>
              <a:spcAft>
                <a:spcPts val="0"/>
              </a:spcAft>
              <a:buClr>
                <a:schemeClr val="dk1"/>
              </a:buClr>
              <a:buSzPct val="100000"/>
              <a:buChar char="•"/>
            </a:pPr>
            <a:r>
              <a:rPr lang="en-US" sz="2000"/>
              <a:t>complex: Complex numbers</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a = 2 + 1j b = 100 + 10j </a:t>
            </a:r>
            <a:endParaRPr/>
          </a:p>
          <a:p>
            <a:pPr indent="0" lvl="0" marL="0" rtl="0" algn="l">
              <a:spcBef>
                <a:spcPts val="370"/>
              </a:spcBef>
              <a:spcAft>
                <a:spcPts val="0"/>
              </a:spcAft>
              <a:buClr>
                <a:schemeClr val="dk1"/>
              </a:buClr>
              <a:buSzPct val="100000"/>
              <a:buNone/>
            </a:pPr>
            <a:r>
              <a:t/>
            </a:r>
            <a:endParaRPr sz="2000">
              <a:latin typeface="Bodoni"/>
              <a:ea typeface="Bodoni"/>
              <a:cs typeface="Bodoni"/>
              <a:sym typeface="Bodoni"/>
            </a:endParaRPr>
          </a:p>
          <a:p>
            <a:pPr indent="0" lvl="0" marL="0" rtl="0" algn="l">
              <a:spcBef>
                <a:spcPts val="370"/>
              </a:spcBef>
              <a:spcAft>
                <a:spcPts val="0"/>
              </a:spcAft>
              <a:buClr>
                <a:schemeClr val="dk1"/>
              </a:buClr>
              <a:buSzPct val="100000"/>
              <a:buNone/>
            </a:pPr>
            <a:r>
              <a:rPr lang="en-US" sz="2000"/>
              <a:t>The &lt;, &lt;=, &gt; and &gt;= operators will raise a TypeError exception when any operand is a complex number.</a:t>
            </a:r>
            <a:endParaRPr sz="2000">
              <a:latin typeface="Bodoni"/>
              <a:ea typeface="Bodoni"/>
              <a:cs typeface="Bodoni"/>
              <a:sym typeface="Bodon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1" name="Shape 281"/>
        <p:cNvGrpSpPr/>
        <p:nvPr/>
      </p:nvGrpSpPr>
      <p:grpSpPr>
        <a:xfrm>
          <a:off x="0" y="0"/>
          <a:ext cx="0" cy="0"/>
          <a:chOff x="0" y="0"/>
          <a:chExt cx="0" cy="0"/>
        </a:xfrm>
      </p:grpSpPr>
      <p:sp>
        <p:nvSpPr>
          <p:cNvPr id="282" name="Google Shape;28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Sequences and collections</a:t>
            </a:r>
            <a:endParaRPr/>
          </a:p>
        </p:txBody>
      </p:sp>
      <p:sp>
        <p:nvSpPr>
          <p:cNvPr id="283" name="Google Shape;283;p40"/>
          <p:cNvSpPr txBox="1"/>
          <p:nvPr>
            <p:ph idx="1" type="body"/>
          </p:nvPr>
        </p:nvSpPr>
        <p:spPr>
          <a:xfrm>
            <a:off x="457200" y="1196752"/>
            <a:ext cx="8229600" cy="54006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sz="2000"/>
              <a:t>Python differentiates between ordered sequences and unordered collections (such as set and dict).</a:t>
            </a:r>
            <a:endParaRPr/>
          </a:p>
          <a:p>
            <a:pPr indent="-342900" lvl="0" marL="342900" rtl="0" algn="l">
              <a:spcBef>
                <a:spcPts val="280"/>
              </a:spcBef>
              <a:spcAft>
                <a:spcPts val="0"/>
              </a:spcAft>
              <a:buClr>
                <a:schemeClr val="dk1"/>
              </a:buClr>
              <a:buSzPct val="100000"/>
              <a:buChar char="•"/>
            </a:pPr>
            <a:r>
              <a:rPr lang="en-US" sz="2000"/>
              <a:t>str: Character string; in Python 3 it is a </a:t>
            </a:r>
            <a:r>
              <a:rPr b="1" lang="en-US" sz="2000"/>
              <a:t>unicode</a:t>
            </a:r>
            <a:r>
              <a:rPr lang="en-US" sz="2000"/>
              <a:t> string, while in Python 2 it is a </a:t>
            </a:r>
            <a:r>
              <a:rPr b="1" lang="en-US" sz="2000"/>
              <a:t>byte string</a:t>
            </a:r>
            <a:r>
              <a:rPr lang="en-US" sz="2000"/>
              <a:t>.</a:t>
            </a:r>
            <a:endParaRPr/>
          </a:p>
          <a:p>
            <a:pPr indent="-342900" lvl="0" marL="342900" rtl="0" algn="l">
              <a:spcBef>
                <a:spcPts val="280"/>
              </a:spcBef>
              <a:spcAft>
                <a:spcPts val="0"/>
              </a:spcAft>
              <a:buClr>
                <a:schemeClr val="dk1"/>
              </a:buClr>
              <a:buSzPct val="100000"/>
              <a:buChar char="•"/>
            </a:pPr>
            <a:r>
              <a:rPr lang="en-US" sz="2000"/>
              <a:t>unicode: In Python 3 this type does not exist, str replaces it; in Python 2 it represents an </a:t>
            </a:r>
            <a:r>
              <a:rPr b="1" lang="en-US" sz="2000"/>
              <a:t>unicode encoded string</a:t>
            </a:r>
            <a:r>
              <a:rPr lang="en-US" sz="2000"/>
              <a:t>.</a:t>
            </a:r>
            <a:endParaRPr/>
          </a:p>
          <a:p>
            <a:pPr indent="-342900" lvl="0" marL="342900" rtl="0" algn="l">
              <a:spcBef>
                <a:spcPts val="280"/>
              </a:spcBef>
              <a:spcAft>
                <a:spcPts val="0"/>
              </a:spcAft>
              <a:buClr>
                <a:schemeClr val="dk1"/>
              </a:buClr>
              <a:buSzPct val="100000"/>
              <a:buChar char="•"/>
            </a:pPr>
            <a:r>
              <a:rPr lang="en-US" sz="2000"/>
              <a:t>bytes: In Python 3 this represents a </a:t>
            </a:r>
            <a:r>
              <a:rPr b="1" lang="en-US" sz="2000"/>
              <a:t>string of bytes</a:t>
            </a:r>
            <a:r>
              <a:rPr lang="en-US" sz="2000"/>
              <a:t>, without encoding defined; in Python 2 this is a synonym of str.</a:t>
            </a:r>
            <a:endParaRPr/>
          </a:p>
          <a:p>
            <a:pPr indent="-342900" lvl="0" marL="342900" rtl="0" algn="l">
              <a:spcBef>
                <a:spcPts val="280"/>
              </a:spcBef>
              <a:spcAft>
                <a:spcPts val="0"/>
              </a:spcAft>
              <a:buClr>
                <a:schemeClr val="dk1"/>
              </a:buClr>
              <a:buSzPct val="100000"/>
              <a:buChar char="•"/>
            </a:pPr>
            <a:r>
              <a:rPr lang="en-US" sz="2000"/>
              <a:t>tuple: An ordered collection of n values of any type (n &gt;= 0); supports indexing; immutable; hashable if all its members are hashable.</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a = (1, 2, 3) </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b = ('a', 1, 'python', (1, 2)) </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b[2] = 'something else' # returns a TypeError </a:t>
            </a:r>
            <a:endParaRPr/>
          </a:p>
          <a:p>
            <a:pPr indent="0" lvl="0" marL="0" rtl="0" algn="l">
              <a:spcBef>
                <a:spcPts val="280"/>
              </a:spcBef>
              <a:spcAft>
                <a:spcPts val="0"/>
              </a:spcAft>
              <a:buClr>
                <a:schemeClr val="dk1"/>
              </a:buClr>
              <a:buSzPct val="100000"/>
              <a:buNone/>
            </a:pPr>
            <a:r>
              <a:t/>
            </a:r>
            <a:endParaRPr sz="2000">
              <a:latin typeface="Bodoni"/>
              <a:ea typeface="Bodoni"/>
              <a:cs typeface="Bodoni"/>
              <a:sym typeface="Bodoni"/>
            </a:endParaRPr>
          </a:p>
          <a:p>
            <a:pPr indent="-342900" lvl="0" marL="342900" rtl="0" algn="l">
              <a:spcBef>
                <a:spcPts val="280"/>
              </a:spcBef>
              <a:spcAft>
                <a:spcPts val="0"/>
              </a:spcAft>
              <a:buClr>
                <a:schemeClr val="dk1"/>
              </a:buClr>
              <a:buSzPct val="100000"/>
              <a:buChar char="•"/>
            </a:pPr>
            <a:r>
              <a:rPr lang="en-US" sz="2000"/>
              <a:t>list: An ordered collection of n values (n &gt;= 0); not hashable; mutable.</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a = [1, 2, 3] </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b = ['a', 1, 'python', (1, 2), [1, 2]] </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b[2] = 'something else' # allowed </a:t>
            </a:r>
            <a:endParaRPr/>
          </a:p>
          <a:p>
            <a:pPr indent="-254000" lvl="0" marL="342900" rtl="0" algn="l">
              <a:spcBef>
                <a:spcPts val="280"/>
              </a:spcBef>
              <a:spcAft>
                <a:spcPts val="0"/>
              </a:spcAft>
              <a:buClr>
                <a:schemeClr val="dk1"/>
              </a:buClr>
              <a:buSzPct val="100000"/>
              <a:buNone/>
            </a:pPr>
            <a:r>
              <a:t/>
            </a:r>
            <a:endParaRPr sz="2000"/>
          </a:p>
          <a:p>
            <a:pPr indent="-342900" lvl="0" marL="342900" rtl="0" algn="l">
              <a:spcBef>
                <a:spcPts val="280"/>
              </a:spcBef>
              <a:spcAft>
                <a:spcPts val="0"/>
              </a:spcAft>
              <a:buClr>
                <a:schemeClr val="dk1"/>
              </a:buClr>
              <a:buSzPct val="100000"/>
              <a:buChar char="•"/>
            </a:pPr>
            <a:r>
              <a:rPr lang="en-US" sz="2000"/>
              <a:t>set: An unordered collection of unique values.</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a = {1, 2, 'a'} </a:t>
            </a:r>
            <a:endParaRPr/>
          </a:p>
          <a:p>
            <a:pPr indent="-254000" lvl="0" marL="342900" rtl="0" algn="l">
              <a:spcBef>
                <a:spcPts val="280"/>
              </a:spcBef>
              <a:spcAft>
                <a:spcPts val="0"/>
              </a:spcAft>
              <a:buClr>
                <a:schemeClr val="dk1"/>
              </a:buClr>
              <a:buSzPct val="100000"/>
              <a:buNone/>
            </a:pPr>
            <a:r>
              <a:t/>
            </a:r>
            <a:endParaRPr sz="2000"/>
          </a:p>
          <a:p>
            <a:pPr indent="-342900" lvl="0" marL="342900" rtl="0" algn="l">
              <a:spcBef>
                <a:spcPts val="280"/>
              </a:spcBef>
              <a:spcAft>
                <a:spcPts val="0"/>
              </a:spcAft>
              <a:buClr>
                <a:schemeClr val="dk1"/>
              </a:buClr>
              <a:buSzPct val="100000"/>
              <a:buChar char="•"/>
            </a:pPr>
            <a:r>
              <a:rPr lang="en-US" sz="2000"/>
              <a:t>reversed: A reversed order of str with reversed function</a:t>
            </a:r>
            <a:endParaRPr/>
          </a:p>
          <a:p>
            <a:pPr indent="0" lvl="0" marL="0" rtl="0" algn="l">
              <a:spcBef>
                <a:spcPts val="280"/>
              </a:spcBef>
              <a:spcAft>
                <a:spcPts val="0"/>
              </a:spcAft>
              <a:buClr>
                <a:schemeClr val="dk1"/>
              </a:buClr>
              <a:buSzPct val="100000"/>
              <a:buNone/>
            </a:pPr>
            <a:r>
              <a:rPr lang="en-US" sz="2000">
                <a:latin typeface="Bodoni"/>
                <a:ea typeface="Bodoni"/>
                <a:cs typeface="Bodoni"/>
                <a:sym typeface="Bodoni"/>
              </a:rPr>
              <a:t>a = reversed('hello') </a:t>
            </a:r>
            <a:endParaRPr/>
          </a:p>
          <a:p>
            <a:pPr indent="-254000" lvl="0" marL="342900" rtl="0" algn="l">
              <a:spcBef>
                <a:spcPts val="280"/>
              </a:spcBef>
              <a:spcAft>
                <a:spcPts val="0"/>
              </a:spcAft>
              <a:buClr>
                <a:schemeClr val="dk1"/>
              </a:buClr>
              <a:buSzPct val="100000"/>
              <a:buNone/>
            </a:pPr>
            <a:r>
              <a:t/>
            </a:r>
            <a:endParaRPr sz="2000"/>
          </a:p>
          <a:p>
            <a:pPr indent="-342900" lvl="0" marL="342900" rtl="0" algn="l">
              <a:spcBef>
                <a:spcPts val="280"/>
              </a:spcBef>
              <a:spcAft>
                <a:spcPts val="0"/>
              </a:spcAft>
              <a:buClr>
                <a:schemeClr val="dk1"/>
              </a:buClr>
              <a:buSzPct val="100000"/>
              <a:buChar char="•"/>
            </a:pPr>
            <a:r>
              <a:rPr lang="en-US" sz="2000"/>
              <a:t>dict: An unordered collection of unique key-value pairs; keys must be </a:t>
            </a:r>
            <a:r>
              <a:rPr lang="en-US" sz="2000" u="sng">
                <a:solidFill>
                  <a:schemeClr val="hlink"/>
                </a:solidFill>
                <a:hlinkClick r:id="rId3"/>
              </a:rPr>
              <a:t>hashable</a:t>
            </a:r>
            <a:r>
              <a:rPr lang="en-US" sz="2000"/>
              <a:t>.</a:t>
            </a:r>
            <a:endParaRPr/>
          </a:p>
          <a:p>
            <a:pPr indent="-254000" lvl="0" marL="342900" rtl="0" algn="l">
              <a:spcBef>
                <a:spcPts val="280"/>
              </a:spcBef>
              <a:spcAft>
                <a:spcPts val="0"/>
              </a:spcAft>
              <a:buClr>
                <a:schemeClr val="dk1"/>
              </a:buClr>
              <a:buSzPct val="100000"/>
              <a:buNone/>
            </a:pPr>
            <a:r>
              <a:t/>
            </a:r>
            <a:endParaRPr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9" name="Google Shape;289;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An object is hashable if it has a hash value which never changes during its lifetime (it needs a __hash__() method), and can be compared to other objects (it needs an __eq__() method). Hashable objects which compare equality must have the same hash value.</a:t>
            </a:r>
            <a:endParaRPr/>
          </a:p>
          <a:p>
            <a:pPr indent="-228600" lvl="0" marL="342900" rtl="0" algn="l">
              <a:spcBef>
                <a:spcPts val="360"/>
              </a:spcBef>
              <a:spcAft>
                <a:spcPts val="0"/>
              </a:spcAft>
              <a:buClr>
                <a:schemeClr val="dk1"/>
              </a:buClr>
              <a:buSzPts val="1800"/>
              <a:buNone/>
            </a:pPr>
            <a:r>
              <a:t/>
            </a:r>
            <a:endParaRPr sz="1800"/>
          </a:p>
        </p:txBody>
      </p:sp>
      <p:pic>
        <p:nvPicPr>
          <p:cNvPr id="290" name="Google Shape;290;p41"/>
          <p:cNvPicPr preferRelativeResize="0"/>
          <p:nvPr/>
        </p:nvPicPr>
        <p:blipFill rotWithShape="1">
          <a:blip r:embed="rId3">
            <a:alphaModFix/>
          </a:blip>
          <a:srcRect b="0" l="0" r="0" t="0"/>
          <a:stretch/>
        </p:blipFill>
        <p:spPr>
          <a:xfrm>
            <a:off x="2843808" y="2914081"/>
            <a:ext cx="1857375" cy="1038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4" name="Shape 294"/>
        <p:cNvGrpSpPr/>
        <p:nvPr/>
      </p:nvGrpSpPr>
      <p:grpSpPr>
        <a:xfrm>
          <a:off x="0" y="0"/>
          <a:ext cx="0" cy="0"/>
          <a:chOff x="0" y="0"/>
          <a:chExt cx="0" cy="0"/>
        </a:xfrm>
      </p:grpSpPr>
      <p:sp>
        <p:nvSpPr>
          <p:cNvPr id="295" name="Google Shape;295;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Built-in constants</a:t>
            </a:r>
            <a:endParaRPr/>
          </a:p>
        </p:txBody>
      </p:sp>
      <p:sp>
        <p:nvSpPr>
          <p:cNvPr id="296" name="Google Shape;296;p42"/>
          <p:cNvSpPr txBox="1"/>
          <p:nvPr>
            <p:ph idx="1" type="body"/>
          </p:nvPr>
        </p:nvSpPr>
        <p:spPr>
          <a:xfrm>
            <a:off x="457200" y="1196752"/>
            <a:ext cx="8229600" cy="547260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t>In conjunction with the built-in datatypes there are a small number of built-in constants in the built-in namespace:</a:t>
            </a:r>
            <a:endParaRPr/>
          </a:p>
          <a:p>
            <a:pPr indent="-342900" lvl="0" marL="342900" rtl="0" algn="l">
              <a:spcBef>
                <a:spcPts val="360"/>
              </a:spcBef>
              <a:spcAft>
                <a:spcPts val="0"/>
              </a:spcAft>
              <a:buClr>
                <a:schemeClr val="dk1"/>
              </a:buClr>
              <a:buSzPts val="1800"/>
              <a:buChar char="•"/>
            </a:pPr>
            <a:r>
              <a:rPr lang="en-US" sz="1800"/>
              <a:t>True: The true value of the built-in type bool</a:t>
            </a:r>
            <a:endParaRPr/>
          </a:p>
          <a:p>
            <a:pPr indent="-342900" lvl="0" marL="342900" rtl="0" algn="l">
              <a:spcBef>
                <a:spcPts val="360"/>
              </a:spcBef>
              <a:spcAft>
                <a:spcPts val="0"/>
              </a:spcAft>
              <a:buClr>
                <a:schemeClr val="dk1"/>
              </a:buClr>
              <a:buSzPts val="1800"/>
              <a:buChar char="•"/>
            </a:pPr>
            <a:r>
              <a:rPr lang="en-US" sz="1800"/>
              <a:t>False: The false value of the built-in type bool</a:t>
            </a:r>
            <a:endParaRPr/>
          </a:p>
          <a:p>
            <a:pPr indent="-342900" lvl="0" marL="342900" rtl="0" algn="l">
              <a:spcBef>
                <a:spcPts val="360"/>
              </a:spcBef>
              <a:spcAft>
                <a:spcPts val="0"/>
              </a:spcAft>
              <a:buClr>
                <a:schemeClr val="dk1"/>
              </a:buClr>
              <a:buSzPts val="1800"/>
              <a:buChar char="•"/>
            </a:pPr>
            <a:r>
              <a:rPr lang="en-US" sz="1800"/>
              <a:t>None: A singleton object used to signal that a value is absent.</a:t>
            </a:r>
            <a:endParaRPr/>
          </a:p>
          <a:p>
            <a:pPr indent="-342900" lvl="0" marL="342900" rtl="0" algn="l">
              <a:spcBef>
                <a:spcPts val="360"/>
              </a:spcBef>
              <a:spcAft>
                <a:spcPts val="0"/>
              </a:spcAft>
              <a:buClr>
                <a:schemeClr val="dk1"/>
              </a:buClr>
              <a:buSzPts val="1800"/>
              <a:buChar char="•"/>
            </a:pPr>
            <a:r>
              <a:rPr lang="en-US" sz="1800"/>
              <a:t>Ellipsis or ...: used in core Python3+ anywhere and limited usage in Python2.7+ as part of array notation. numpy and related packages use this as a 'include everything' reference in arrays.</a:t>
            </a:r>
            <a:endParaRPr/>
          </a:p>
          <a:p>
            <a:pPr indent="-342900" lvl="0" marL="342900" rtl="0" algn="l">
              <a:spcBef>
                <a:spcPts val="360"/>
              </a:spcBef>
              <a:spcAft>
                <a:spcPts val="0"/>
              </a:spcAft>
              <a:buClr>
                <a:schemeClr val="dk1"/>
              </a:buClr>
              <a:buSzPts val="1800"/>
              <a:buChar char="•"/>
            </a:pPr>
            <a:r>
              <a:rPr lang="en-US" sz="1800"/>
              <a:t>NotImplemented: a singleton used to indicate to Python that a special method doesn't support the specific arguments, and Python will try alternatives if available.</a:t>
            </a:r>
            <a:endParaRPr/>
          </a:p>
          <a:p>
            <a:pPr indent="0" lvl="0" marL="0" rtl="0" algn="l">
              <a:spcBef>
                <a:spcPts val="360"/>
              </a:spcBef>
              <a:spcAft>
                <a:spcPts val="0"/>
              </a:spcAft>
              <a:buClr>
                <a:schemeClr val="dk1"/>
              </a:buClr>
              <a:buSzPts val="1800"/>
              <a:buNone/>
            </a:pPr>
            <a:r>
              <a:rPr lang="en-US" sz="1800">
                <a:latin typeface="Bodoni"/>
                <a:ea typeface="Bodoni"/>
                <a:cs typeface="Bodoni"/>
                <a:sym typeface="Bodoni"/>
              </a:rPr>
              <a:t>a = None # No value will be assigned. Any valid datatype can be assigned later</a:t>
            </a:r>
            <a:endParaRPr/>
          </a:p>
        </p:txBody>
      </p:sp>
      <p:pic>
        <p:nvPicPr>
          <p:cNvPr id="297" name="Google Shape;297;p42"/>
          <p:cNvPicPr preferRelativeResize="0"/>
          <p:nvPr/>
        </p:nvPicPr>
        <p:blipFill rotWithShape="1">
          <a:blip r:embed="rId3">
            <a:alphaModFix/>
          </a:blip>
          <a:srcRect b="0" l="0" r="0" t="0"/>
          <a:stretch/>
        </p:blipFill>
        <p:spPr>
          <a:xfrm>
            <a:off x="1691680" y="5013176"/>
            <a:ext cx="6524625" cy="1381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1" name="Shape 301"/>
        <p:cNvGrpSpPr/>
        <p:nvPr/>
      </p:nvGrpSpPr>
      <p:grpSpPr>
        <a:xfrm>
          <a:off x="0" y="0"/>
          <a:ext cx="0" cy="0"/>
          <a:chOff x="0" y="0"/>
          <a:chExt cx="0" cy="0"/>
        </a:xfrm>
      </p:grpSpPr>
      <p:sp>
        <p:nvSpPr>
          <p:cNvPr id="302" name="Google Shape;302;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Testing the type of variables</a:t>
            </a:r>
            <a:endParaRPr/>
          </a:p>
        </p:txBody>
      </p:sp>
      <p:sp>
        <p:nvSpPr>
          <p:cNvPr id="303" name="Google Shape;303;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t>In python, we can check the datatype of an object using the built-in function type.</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US" sz="2000"/>
              <a:t>In conditional statements it is possible to test the datatype with isinstance. However, it is usually not encouraged to rely on the type of the variable.</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US" sz="2000"/>
              <a:t>To test if something is of NoneType:</a:t>
            </a:r>
            <a:endParaRPr/>
          </a:p>
          <a:p>
            <a:pPr indent="0" lvl="0" marL="0" rtl="0" algn="l">
              <a:spcBef>
                <a:spcPts val="400"/>
              </a:spcBef>
              <a:spcAft>
                <a:spcPts val="0"/>
              </a:spcAft>
              <a:buClr>
                <a:schemeClr val="dk1"/>
              </a:buClr>
              <a:buSzPts val="2000"/>
              <a:buNone/>
            </a:pPr>
            <a:r>
              <a:t/>
            </a:r>
            <a:endParaRPr sz="2000"/>
          </a:p>
        </p:txBody>
      </p:sp>
      <p:pic>
        <p:nvPicPr>
          <p:cNvPr id="304" name="Google Shape;304;p43"/>
          <p:cNvPicPr preferRelativeResize="0"/>
          <p:nvPr/>
        </p:nvPicPr>
        <p:blipFill rotWithShape="1">
          <a:blip r:embed="rId3">
            <a:alphaModFix/>
          </a:blip>
          <a:srcRect b="0" l="0" r="0" t="0"/>
          <a:stretch/>
        </p:blipFill>
        <p:spPr>
          <a:xfrm>
            <a:off x="3131840" y="2060848"/>
            <a:ext cx="1685925" cy="1162050"/>
          </a:xfrm>
          <a:prstGeom prst="rect">
            <a:avLst/>
          </a:prstGeom>
          <a:noFill/>
          <a:ln>
            <a:noFill/>
          </a:ln>
        </p:spPr>
      </p:pic>
      <p:pic>
        <p:nvPicPr>
          <p:cNvPr id="305" name="Google Shape;305;p43"/>
          <p:cNvPicPr preferRelativeResize="0"/>
          <p:nvPr/>
        </p:nvPicPr>
        <p:blipFill rotWithShape="1">
          <a:blip r:embed="rId4">
            <a:alphaModFix/>
          </a:blip>
          <a:srcRect b="0" l="0" r="0" t="0"/>
          <a:stretch/>
        </p:blipFill>
        <p:spPr>
          <a:xfrm>
            <a:off x="3131840" y="4005064"/>
            <a:ext cx="1866900" cy="1162050"/>
          </a:xfrm>
          <a:prstGeom prst="rect">
            <a:avLst/>
          </a:prstGeom>
          <a:noFill/>
          <a:ln>
            <a:noFill/>
          </a:ln>
        </p:spPr>
      </p:pic>
      <p:pic>
        <p:nvPicPr>
          <p:cNvPr id="306" name="Google Shape;306;p43"/>
          <p:cNvPicPr preferRelativeResize="0"/>
          <p:nvPr/>
        </p:nvPicPr>
        <p:blipFill rotWithShape="1">
          <a:blip r:embed="rId5">
            <a:alphaModFix/>
          </a:blip>
          <a:srcRect b="0" l="0" r="0" t="0"/>
          <a:stretch/>
        </p:blipFill>
        <p:spPr>
          <a:xfrm>
            <a:off x="3131840" y="5589240"/>
            <a:ext cx="3790950" cy="676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Converting between datatypes</a:t>
            </a:r>
            <a:endParaRPr/>
          </a:p>
        </p:txBody>
      </p:sp>
      <p:sp>
        <p:nvSpPr>
          <p:cNvPr id="312" name="Google Shape;312;p44"/>
          <p:cNvSpPr txBox="1"/>
          <p:nvPr>
            <p:ph idx="1" type="body"/>
          </p:nvPr>
        </p:nvSpPr>
        <p:spPr>
          <a:xfrm>
            <a:off x="457200" y="1340768"/>
            <a:ext cx="8229600" cy="54006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sz="2000"/>
              <a:t>You can perform explicit datatype conversion.</a:t>
            </a:r>
            <a:endParaRPr/>
          </a:p>
          <a:p>
            <a:pPr indent="0" lvl="0" marL="0" rtl="0" algn="l">
              <a:spcBef>
                <a:spcPts val="370"/>
              </a:spcBef>
              <a:spcAft>
                <a:spcPts val="0"/>
              </a:spcAft>
              <a:buClr>
                <a:schemeClr val="dk1"/>
              </a:buClr>
              <a:buSzPct val="100000"/>
              <a:buNone/>
            </a:pPr>
            <a:r>
              <a:rPr lang="en-US" sz="2000"/>
              <a:t>For example, '123' is of str type and it can be converted to integer using int function.</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a = '123' </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b = int(a)</a:t>
            </a:r>
            <a:endParaRPr/>
          </a:p>
          <a:p>
            <a:pPr indent="0" lvl="0" marL="0" rtl="0" algn="l">
              <a:spcBef>
                <a:spcPts val="370"/>
              </a:spcBef>
              <a:spcAft>
                <a:spcPts val="0"/>
              </a:spcAft>
              <a:buClr>
                <a:schemeClr val="dk1"/>
              </a:buClr>
              <a:buSzPct val="100000"/>
              <a:buNone/>
            </a:pPr>
            <a:r>
              <a:t/>
            </a:r>
            <a:endParaRPr sz="2000"/>
          </a:p>
          <a:p>
            <a:pPr indent="0" lvl="0" marL="0" rtl="0" algn="l">
              <a:spcBef>
                <a:spcPts val="370"/>
              </a:spcBef>
              <a:spcAft>
                <a:spcPts val="0"/>
              </a:spcAft>
              <a:buClr>
                <a:schemeClr val="dk1"/>
              </a:buClr>
              <a:buSzPct val="100000"/>
              <a:buNone/>
            </a:pPr>
            <a:r>
              <a:rPr lang="en-US" sz="2000"/>
              <a:t>Converting from a float string such as '123.456' can be done using float function.</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a = '123.456' </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b = float(a) </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c = int(a) # ValueError: invalid literal for int() with base 10: '123.456' </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d = int(b) # 123</a:t>
            </a:r>
            <a:endParaRPr/>
          </a:p>
          <a:p>
            <a:pPr indent="0" lvl="0" marL="0" rtl="0" algn="l">
              <a:spcBef>
                <a:spcPts val="370"/>
              </a:spcBef>
              <a:spcAft>
                <a:spcPts val="0"/>
              </a:spcAft>
              <a:buClr>
                <a:schemeClr val="dk1"/>
              </a:buClr>
              <a:buSzPct val="100000"/>
              <a:buNone/>
            </a:pPr>
            <a:r>
              <a:t/>
            </a:r>
            <a:endParaRPr sz="2000">
              <a:latin typeface="Bodoni"/>
              <a:ea typeface="Bodoni"/>
              <a:cs typeface="Bodoni"/>
              <a:sym typeface="Bodoni"/>
            </a:endParaRPr>
          </a:p>
          <a:p>
            <a:pPr indent="0" lvl="0" marL="0" rtl="0" algn="l">
              <a:spcBef>
                <a:spcPts val="370"/>
              </a:spcBef>
              <a:spcAft>
                <a:spcPts val="0"/>
              </a:spcAft>
              <a:buClr>
                <a:schemeClr val="dk1"/>
              </a:buClr>
              <a:buSzPct val="100000"/>
              <a:buNone/>
            </a:pPr>
            <a:r>
              <a:rPr lang="en-US" sz="2000"/>
              <a:t>You can also convert sequence or collection types</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a = 'hello' </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list(a) # ['h', 'e', 'l', 'l', 'o'] </a:t>
            </a:r>
            <a:endParaRPr/>
          </a:p>
          <a:p>
            <a:pPr indent="0" lvl="0" marL="0" rtl="0" algn="l">
              <a:spcBef>
                <a:spcPts val="370"/>
              </a:spcBef>
              <a:spcAft>
                <a:spcPts val="0"/>
              </a:spcAft>
              <a:buClr>
                <a:schemeClr val="dk1"/>
              </a:buClr>
              <a:buSzPct val="100000"/>
              <a:buNone/>
            </a:pPr>
            <a:r>
              <a:rPr lang="en-US" sz="2000">
                <a:latin typeface="Bodoni"/>
                <a:ea typeface="Bodoni"/>
                <a:cs typeface="Bodoni"/>
                <a:sym typeface="Bodoni"/>
              </a:rPr>
              <a:t>set(a) # {'o', 'e', 'l', 'h'}</a:t>
            </a:r>
            <a:endParaRPr sz="2000">
              <a:latin typeface="Bodoni"/>
              <a:ea typeface="Bodoni"/>
              <a:cs typeface="Bodoni"/>
              <a:sym typeface="Bodon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6" name="Shape 316"/>
        <p:cNvGrpSpPr/>
        <p:nvPr/>
      </p:nvGrpSpPr>
      <p:grpSpPr>
        <a:xfrm>
          <a:off x="0" y="0"/>
          <a:ext cx="0" cy="0"/>
          <a:chOff x="0" y="0"/>
          <a:chExt cx="0" cy="0"/>
        </a:xfrm>
      </p:grpSpPr>
      <p:sp>
        <p:nvSpPr>
          <p:cNvPr id="317" name="Google Shape;317;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Explicit string type at definition of literals</a:t>
            </a:r>
            <a:endParaRPr/>
          </a:p>
        </p:txBody>
      </p:sp>
      <p:sp>
        <p:nvSpPr>
          <p:cNvPr id="318" name="Google Shape;318;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t>With one letter labels just in front of the quotes you can tell what type of string you want to define.</a:t>
            </a:r>
            <a:endParaRPr/>
          </a:p>
          <a:p>
            <a:pPr indent="-342900" lvl="0" marL="342900" rtl="0" algn="l">
              <a:spcBef>
                <a:spcPts val="400"/>
              </a:spcBef>
              <a:spcAft>
                <a:spcPts val="0"/>
              </a:spcAft>
              <a:buClr>
                <a:schemeClr val="dk1"/>
              </a:buClr>
              <a:buSzPts val="2000"/>
              <a:buChar char="•"/>
            </a:pPr>
            <a:r>
              <a:rPr lang="en-US" sz="2000"/>
              <a:t>b'foo bar': results bytes in Python 3, str in Python 2</a:t>
            </a:r>
            <a:endParaRPr/>
          </a:p>
          <a:p>
            <a:pPr indent="-342900" lvl="0" marL="342900" rtl="0" algn="l">
              <a:spcBef>
                <a:spcPts val="400"/>
              </a:spcBef>
              <a:spcAft>
                <a:spcPts val="0"/>
              </a:spcAft>
              <a:buClr>
                <a:schemeClr val="dk1"/>
              </a:buClr>
              <a:buSzPts val="2000"/>
              <a:buChar char="•"/>
            </a:pPr>
            <a:r>
              <a:rPr lang="en-US" sz="2000"/>
              <a:t>u'foo bar': results str in Python 3, unicode in Python 2</a:t>
            </a:r>
            <a:endParaRPr/>
          </a:p>
          <a:p>
            <a:pPr indent="-342900" lvl="0" marL="342900" rtl="0" algn="l">
              <a:spcBef>
                <a:spcPts val="400"/>
              </a:spcBef>
              <a:spcAft>
                <a:spcPts val="0"/>
              </a:spcAft>
              <a:buClr>
                <a:schemeClr val="dk1"/>
              </a:buClr>
              <a:buSzPts val="2000"/>
              <a:buChar char="•"/>
            </a:pPr>
            <a:r>
              <a:rPr lang="en-US" sz="2000"/>
              <a:t>'foo bar': results str</a:t>
            </a:r>
            <a:endParaRPr sz="2000"/>
          </a:p>
          <a:p>
            <a:pPr indent="-342900" lvl="0" marL="342900" rtl="0" algn="l">
              <a:spcBef>
                <a:spcPts val="400"/>
              </a:spcBef>
              <a:spcAft>
                <a:spcPts val="0"/>
              </a:spcAft>
              <a:buClr>
                <a:schemeClr val="dk1"/>
              </a:buClr>
              <a:buSzPts val="2000"/>
              <a:buChar char="•"/>
            </a:pPr>
            <a:r>
              <a:rPr lang="en-US" sz="2000"/>
              <a:t>r'foo bar': results so called raw string, where escaping special characters is not necessary, everything is taken verbatim as you typed</a:t>
            </a:r>
            <a:endParaRPr/>
          </a:p>
          <a:p>
            <a:pPr indent="-215900" lvl="0" marL="34290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rPr lang="en-US" sz="2000">
                <a:latin typeface="Bodoni"/>
                <a:ea typeface="Bodoni"/>
                <a:cs typeface="Bodoni"/>
                <a:sym typeface="Bodoni"/>
              </a:rPr>
              <a:t>normal = 'foo\nbar' # foo # bar </a:t>
            </a:r>
            <a:endParaRPr/>
          </a:p>
          <a:p>
            <a:pPr indent="0" lvl="0" marL="0" rtl="0" algn="l">
              <a:spcBef>
                <a:spcPts val="400"/>
              </a:spcBef>
              <a:spcAft>
                <a:spcPts val="0"/>
              </a:spcAft>
              <a:buClr>
                <a:schemeClr val="dk1"/>
              </a:buClr>
              <a:buSzPts val="2000"/>
              <a:buNone/>
            </a:pPr>
            <a:r>
              <a:rPr lang="en-US" sz="2000">
                <a:latin typeface="Bodoni"/>
                <a:ea typeface="Bodoni"/>
                <a:cs typeface="Bodoni"/>
                <a:sym typeface="Bodoni"/>
              </a:rPr>
              <a:t>escaped = 'foo\\nbar' # foo\nbar </a:t>
            </a:r>
            <a:endParaRPr/>
          </a:p>
          <a:p>
            <a:pPr indent="0" lvl="0" marL="0" rtl="0" algn="l">
              <a:spcBef>
                <a:spcPts val="400"/>
              </a:spcBef>
              <a:spcAft>
                <a:spcPts val="0"/>
              </a:spcAft>
              <a:buClr>
                <a:schemeClr val="dk1"/>
              </a:buClr>
              <a:buSzPts val="2000"/>
              <a:buNone/>
            </a:pPr>
            <a:r>
              <a:rPr lang="en-US" sz="2000">
                <a:latin typeface="Bodoni"/>
                <a:ea typeface="Bodoni"/>
                <a:cs typeface="Bodoni"/>
                <a:sym typeface="Bodoni"/>
              </a:rPr>
              <a:t>raw = r'foo\nbar' # foo\nbar</a:t>
            </a:r>
            <a:endParaRPr sz="2000">
              <a:latin typeface="Bodoni"/>
              <a:ea typeface="Bodoni"/>
              <a:cs typeface="Bodoni"/>
              <a:sym typeface="Bodoni"/>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2" name="Shape 322"/>
        <p:cNvGrpSpPr/>
        <p:nvPr/>
      </p:nvGrpSpPr>
      <p:grpSpPr>
        <a:xfrm>
          <a:off x="0" y="0"/>
          <a:ext cx="0" cy="0"/>
          <a:chOff x="0" y="0"/>
          <a:chExt cx="0" cy="0"/>
        </a:xfrm>
      </p:grpSpPr>
      <p:sp>
        <p:nvSpPr>
          <p:cNvPr id="323" name="Google Shape;323;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Mutable and Immutable Data Types</a:t>
            </a:r>
            <a:endParaRPr/>
          </a:p>
        </p:txBody>
      </p:sp>
      <p:sp>
        <p:nvSpPr>
          <p:cNvPr id="324" name="Google Shape;324;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t>In Python everything is an object. When define a variable like below</a:t>
            </a:r>
            <a:endParaRPr/>
          </a:p>
          <a:p>
            <a:pPr indent="0" lvl="0" marL="0" rtl="0" algn="l">
              <a:spcBef>
                <a:spcPts val="360"/>
              </a:spcBef>
              <a:spcAft>
                <a:spcPts val="0"/>
              </a:spcAft>
              <a:buClr>
                <a:schemeClr val="dk1"/>
              </a:buClr>
              <a:buSzPts val="1800"/>
              <a:buNone/>
            </a:pPr>
            <a:r>
              <a:rPr lang="en-US" sz="1800">
                <a:latin typeface="Bodoni"/>
                <a:ea typeface="Bodoni"/>
                <a:cs typeface="Bodoni"/>
                <a:sym typeface="Bodoni"/>
              </a:rPr>
              <a:t>a = 5 </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We are creating an object that holds an int value </a:t>
            </a:r>
            <a:r>
              <a:rPr b="1" lang="en-US" sz="1800"/>
              <a:t>5</a:t>
            </a:r>
            <a:r>
              <a:rPr lang="en-US" sz="1800"/>
              <a:t> and tagging it with name </a:t>
            </a:r>
            <a:r>
              <a:rPr b="1" lang="en-US" sz="1800"/>
              <a:t>a</a:t>
            </a:r>
            <a:r>
              <a:rPr lang="en-US" sz="1800"/>
              <a:t> (the variable name) so that we can later use int value (5) with the variable name </a:t>
            </a:r>
            <a:r>
              <a:rPr b="1" lang="en-US" sz="1800"/>
              <a:t>a</a:t>
            </a:r>
            <a:r>
              <a:rPr lang="en-US" sz="1800"/>
              <a:t>.</a:t>
            </a:r>
            <a:endParaRPr/>
          </a:p>
          <a:p>
            <a:pPr indent="0" lvl="0" marL="0" rtl="0" algn="l">
              <a:spcBef>
                <a:spcPts val="360"/>
              </a:spcBef>
              <a:spcAft>
                <a:spcPts val="0"/>
              </a:spcAft>
              <a:buClr>
                <a:schemeClr val="dk1"/>
              </a:buClr>
              <a:buSzPts val="1800"/>
              <a:buNone/>
            </a:pPr>
            <a:r>
              <a:rPr lang="en-US" sz="1800"/>
              <a:t>Now, we re-assign </a:t>
            </a:r>
            <a:r>
              <a:rPr b="1" lang="en-US" sz="1800"/>
              <a:t>a</a:t>
            </a:r>
            <a:r>
              <a:rPr lang="en-US" sz="1800"/>
              <a:t> with new value 6 like below</a:t>
            </a:r>
            <a:endParaRPr/>
          </a:p>
          <a:p>
            <a:pPr indent="0" lvl="0" marL="0" rtl="0" algn="l">
              <a:spcBef>
                <a:spcPts val="360"/>
              </a:spcBef>
              <a:spcAft>
                <a:spcPts val="0"/>
              </a:spcAft>
              <a:buClr>
                <a:schemeClr val="dk1"/>
              </a:buClr>
              <a:buSzPts val="1800"/>
              <a:buNone/>
            </a:pPr>
            <a:r>
              <a:rPr lang="en-US" sz="1800">
                <a:latin typeface="Bodoni"/>
                <a:ea typeface="Bodoni"/>
                <a:cs typeface="Bodoni"/>
                <a:sym typeface="Bodoni"/>
              </a:rPr>
              <a:t>a = 6</a:t>
            </a:r>
            <a:endParaRPr/>
          </a:p>
          <a:p>
            <a:pPr indent="0" lvl="0" marL="0" rtl="0" algn="l">
              <a:spcBef>
                <a:spcPts val="360"/>
              </a:spcBef>
              <a:spcAft>
                <a:spcPts val="0"/>
              </a:spcAft>
              <a:buClr>
                <a:schemeClr val="dk1"/>
              </a:buClr>
              <a:buSzPts val="1800"/>
              <a:buNone/>
            </a:pPr>
            <a:r>
              <a:t/>
            </a:r>
            <a:endParaRPr sz="1800">
              <a:latin typeface="Bodoni"/>
              <a:ea typeface="Bodoni"/>
              <a:cs typeface="Bodoni"/>
              <a:sym typeface="Bodoni"/>
            </a:endParaRPr>
          </a:p>
          <a:p>
            <a:pPr indent="0" lvl="0" marL="0" rtl="0" algn="l">
              <a:spcBef>
                <a:spcPts val="360"/>
              </a:spcBef>
              <a:spcAft>
                <a:spcPts val="0"/>
              </a:spcAft>
              <a:buClr>
                <a:schemeClr val="dk1"/>
              </a:buClr>
              <a:buSzPts val="1800"/>
              <a:buNone/>
            </a:pPr>
            <a:r>
              <a:rPr lang="en-US" sz="1800"/>
              <a:t>Here, we are modifying variable </a:t>
            </a:r>
            <a:r>
              <a:rPr b="1" lang="en-US" sz="1800"/>
              <a:t>a</a:t>
            </a:r>
            <a:r>
              <a:rPr lang="en-US" sz="1800"/>
              <a:t> to point to a new object 6 ie. tagging in with the same variable name </a:t>
            </a:r>
            <a:r>
              <a:rPr b="1" lang="en-US" sz="1800"/>
              <a:t>a</a:t>
            </a:r>
            <a:r>
              <a:rPr lang="en-US" sz="1800"/>
              <a:t>. So, it means in python we can never modify an int object rather create a new object and tag it with same name. So, int is an immutable data type.</a:t>
            </a:r>
            <a:endParaRPr sz="1800">
              <a:latin typeface="Bodoni"/>
              <a:ea typeface="Bodoni"/>
              <a:cs typeface="Bodoni"/>
              <a:sym typeface="Bodon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8" name="Shape 328"/>
        <p:cNvGrpSpPr/>
        <p:nvPr/>
      </p:nvGrpSpPr>
      <p:grpSpPr>
        <a:xfrm>
          <a:off x="0" y="0"/>
          <a:ext cx="0" cy="0"/>
          <a:chOff x="0" y="0"/>
          <a:chExt cx="0" cy="0"/>
        </a:xfrm>
      </p:grpSpPr>
      <p:sp>
        <p:nvSpPr>
          <p:cNvPr id="329" name="Google Shape;32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30" name="Google Shape;330;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Immutable Data Types::</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int, long, float, complex</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str</a:t>
            </a:r>
            <a:endParaRPr>
              <a:latin typeface="Bodoni"/>
              <a:ea typeface="Bodoni"/>
              <a:cs typeface="Bodoni"/>
              <a:sym typeface="Bodoni"/>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byte</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tuple</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Frozenset</a:t>
            </a:r>
            <a:endParaRPr>
              <a:latin typeface="Bodoni"/>
              <a:ea typeface="Bodoni"/>
              <a:cs typeface="Bodoni"/>
              <a:sym typeface="Bodoni"/>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Mutable Data Types::</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bytearray</a:t>
            </a:r>
            <a:endParaRPr>
              <a:latin typeface="Bodoni"/>
              <a:ea typeface="Bodoni"/>
              <a:cs typeface="Bodoni"/>
              <a:sym typeface="Bodoni"/>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list</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set</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dict</a:t>
            </a:r>
            <a:endParaRPr>
              <a:latin typeface="Bodoni"/>
              <a:ea typeface="Bodoni"/>
              <a:cs typeface="Bodoni"/>
              <a:sym typeface="Bodoni"/>
            </a:endParaRPr>
          </a:p>
          <a:p>
            <a:pPr indent="-200660" lvl="0" marL="342900" rtl="0" algn="l">
              <a:spcBef>
                <a:spcPts val="448"/>
              </a:spcBef>
              <a:spcAft>
                <a:spcPts val="0"/>
              </a:spcAft>
              <a:buClr>
                <a:schemeClr val="dk1"/>
              </a:buClr>
              <a:buSzPct val="100000"/>
              <a:buNone/>
            </a:pPr>
            <a:r>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4" name="Shape 334"/>
        <p:cNvGrpSpPr/>
        <p:nvPr/>
      </p:nvGrpSpPr>
      <p:grpSpPr>
        <a:xfrm>
          <a:off x="0" y="0"/>
          <a:ext cx="0" cy="0"/>
          <a:chOff x="0" y="0"/>
          <a:chExt cx="0" cy="0"/>
        </a:xfrm>
      </p:grpSpPr>
      <p:sp>
        <p:nvSpPr>
          <p:cNvPr id="335" name="Google Shape;335;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36" name="Google Shape;336;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t>You can use id() to check the identity of object, to verify whether same object is modified or new object is created.</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pic>
        <p:nvPicPr>
          <p:cNvPr id="337" name="Google Shape;337;p48"/>
          <p:cNvPicPr preferRelativeResize="0"/>
          <p:nvPr/>
        </p:nvPicPr>
        <p:blipFill rotWithShape="1">
          <a:blip r:embed="rId3">
            <a:alphaModFix/>
          </a:blip>
          <a:srcRect b="0" l="0" r="0" t="0"/>
          <a:stretch/>
        </p:blipFill>
        <p:spPr>
          <a:xfrm>
            <a:off x="2411760" y="2492896"/>
            <a:ext cx="2514600" cy="23145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1" name="Shape 341"/>
        <p:cNvGrpSpPr/>
        <p:nvPr/>
      </p:nvGrpSpPr>
      <p:grpSpPr>
        <a:xfrm>
          <a:off x="0" y="0"/>
          <a:ext cx="0" cy="0"/>
          <a:chOff x="0" y="0"/>
          <a:chExt cx="0" cy="0"/>
        </a:xfrm>
      </p:grpSpPr>
      <p:sp>
        <p:nvSpPr>
          <p:cNvPr id="342" name="Google Shape;34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Collection Types </a:t>
            </a:r>
            <a:endParaRPr/>
          </a:p>
        </p:txBody>
      </p:sp>
      <p:sp>
        <p:nvSpPr>
          <p:cNvPr id="343" name="Google Shape;343;p49"/>
          <p:cNvSpPr txBox="1"/>
          <p:nvPr>
            <p:ph idx="1" type="body"/>
          </p:nvPr>
        </p:nvSpPr>
        <p:spPr>
          <a:xfrm>
            <a:off x="457200" y="1600200"/>
            <a:ext cx="8229600" cy="4997152"/>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sz="1800"/>
              <a:t>There are a number of collection types in Python. While types such as int and str hold a single value, collection types hold multiple values.</a:t>
            </a:r>
            <a:endParaRPr/>
          </a:p>
          <a:p>
            <a:pPr indent="-237173" lvl="0" marL="342900" rtl="0" algn="l">
              <a:spcBef>
                <a:spcPts val="333"/>
              </a:spcBef>
              <a:spcAft>
                <a:spcPts val="0"/>
              </a:spcAft>
              <a:buClr>
                <a:schemeClr val="dk1"/>
              </a:buClr>
              <a:buSzPct val="100000"/>
              <a:buNone/>
            </a:pPr>
            <a:r>
              <a:t/>
            </a:r>
            <a:endParaRPr sz="1800"/>
          </a:p>
          <a:p>
            <a:pPr indent="-342900" lvl="0" marL="342900" rtl="0" algn="l">
              <a:spcBef>
                <a:spcPts val="333"/>
              </a:spcBef>
              <a:spcAft>
                <a:spcPts val="0"/>
              </a:spcAft>
              <a:buClr>
                <a:schemeClr val="dk1"/>
              </a:buClr>
              <a:buSzPct val="100000"/>
              <a:buChar char="•"/>
            </a:pPr>
            <a:r>
              <a:rPr b="1" lang="en-US" sz="1800"/>
              <a:t>Lists </a:t>
            </a:r>
            <a:endParaRPr/>
          </a:p>
          <a:p>
            <a:pPr indent="-342900" lvl="0" marL="342900" rtl="0" algn="l">
              <a:spcBef>
                <a:spcPts val="333"/>
              </a:spcBef>
              <a:spcAft>
                <a:spcPts val="0"/>
              </a:spcAft>
              <a:buClr>
                <a:schemeClr val="dk1"/>
              </a:buClr>
              <a:buSzPct val="100000"/>
              <a:buChar char="•"/>
            </a:pPr>
            <a:r>
              <a:rPr lang="en-US" sz="1800"/>
              <a:t>The list type is probably the most commonly used collection type in Python. Despite its name, a list is more like an array in other languages, mostly JavaScript. In Python, a list is merely an ordered collection of valid Python values. A list can be created by enclosing values, separated by commas, in square brackets:</a:t>
            </a:r>
            <a:endParaRPr/>
          </a:p>
          <a:p>
            <a:pPr indent="0" lvl="0" marL="0" rtl="0" algn="l">
              <a:spcBef>
                <a:spcPts val="333"/>
              </a:spcBef>
              <a:spcAft>
                <a:spcPts val="0"/>
              </a:spcAft>
              <a:buClr>
                <a:schemeClr val="dk1"/>
              </a:buClr>
              <a:buSzPct val="100000"/>
              <a:buNone/>
            </a:pPr>
            <a:r>
              <a:rPr lang="en-US" sz="1800">
                <a:latin typeface="Bodoni"/>
                <a:ea typeface="Bodoni"/>
                <a:cs typeface="Bodoni"/>
                <a:sym typeface="Bodoni"/>
              </a:rPr>
              <a:t>int_list = [1, 2, 3] </a:t>
            </a:r>
            <a:endParaRPr/>
          </a:p>
          <a:p>
            <a:pPr indent="0" lvl="0" marL="0" rtl="0" algn="l">
              <a:spcBef>
                <a:spcPts val="333"/>
              </a:spcBef>
              <a:spcAft>
                <a:spcPts val="0"/>
              </a:spcAft>
              <a:buClr>
                <a:schemeClr val="dk1"/>
              </a:buClr>
              <a:buSzPct val="100000"/>
              <a:buNone/>
            </a:pPr>
            <a:r>
              <a:rPr lang="en-US" sz="1800">
                <a:latin typeface="Bodoni"/>
                <a:ea typeface="Bodoni"/>
                <a:cs typeface="Bodoni"/>
                <a:sym typeface="Bodoni"/>
              </a:rPr>
              <a:t>string_list = ['abc', 'defghi'] </a:t>
            </a:r>
            <a:endParaRPr/>
          </a:p>
          <a:p>
            <a:pPr indent="-237173" lvl="0" marL="342900" rtl="0" algn="l">
              <a:spcBef>
                <a:spcPts val="333"/>
              </a:spcBef>
              <a:spcAft>
                <a:spcPts val="0"/>
              </a:spcAft>
              <a:buClr>
                <a:schemeClr val="dk1"/>
              </a:buClr>
              <a:buSzPct val="100000"/>
              <a:buNone/>
            </a:pPr>
            <a:r>
              <a:t/>
            </a:r>
            <a:endParaRPr sz="1800"/>
          </a:p>
          <a:p>
            <a:pPr indent="-342900" lvl="0" marL="342900" rtl="0" algn="l">
              <a:spcBef>
                <a:spcPts val="333"/>
              </a:spcBef>
              <a:spcAft>
                <a:spcPts val="0"/>
              </a:spcAft>
              <a:buClr>
                <a:schemeClr val="dk1"/>
              </a:buClr>
              <a:buSzPct val="100000"/>
              <a:buChar char="•"/>
            </a:pPr>
            <a:r>
              <a:rPr lang="en-US" sz="1800"/>
              <a:t>A list can be empty:</a:t>
            </a:r>
            <a:endParaRPr/>
          </a:p>
          <a:p>
            <a:pPr indent="0" lvl="0" marL="0" rtl="0" algn="l">
              <a:spcBef>
                <a:spcPts val="333"/>
              </a:spcBef>
              <a:spcAft>
                <a:spcPts val="0"/>
              </a:spcAft>
              <a:buClr>
                <a:schemeClr val="dk1"/>
              </a:buClr>
              <a:buSzPct val="100000"/>
              <a:buNone/>
            </a:pPr>
            <a:r>
              <a:rPr lang="en-US" sz="1800">
                <a:latin typeface="Bodoni"/>
                <a:ea typeface="Bodoni"/>
                <a:cs typeface="Bodoni"/>
                <a:sym typeface="Bodoni"/>
              </a:rPr>
              <a:t>empty_list = [] </a:t>
            </a:r>
            <a:endParaRPr/>
          </a:p>
          <a:p>
            <a:pPr indent="-237173" lvl="0" marL="342900" rtl="0" algn="l">
              <a:spcBef>
                <a:spcPts val="333"/>
              </a:spcBef>
              <a:spcAft>
                <a:spcPts val="0"/>
              </a:spcAft>
              <a:buClr>
                <a:schemeClr val="dk1"/>
              </a:buClr>
              <a:buSzPct val="100000"/>
              <a:buNone/>
            </a:pPr>
            <a:r>
              <a:t/>
            </a:r>
            <a:endParaRPr sz="1800"/>
          </a:p>
          <a:p>
            <a:pPr indent="-342900" lvl="0" marL="342900" rtl="0" algn="l">
              <a:spcBef>
                <a:spcPts val="333"/>
              </a:spcBef>
              <a:spcAft>
                <a:spcPts val="0"/>
              </a:spcAft>
              <a:buClr>
                <a:schemeClr val="dk1"/>
              </a:buClr>
              <a:buSzPct val="100000"/>
              <a:buChar char="•"/>
            </a:pPr>
            <a:r>
              <a:rPr lang="en-US" sz="1800"/>
              <a:t>The elements of a list are not restricted to a single data type, which makes sense given that Python is a dynamic language:</a:t>
            </a:r>
            <a:endParaRPr/>
          </a:p>
          <a:p>
            <a:pPr indent="0" lvl="0" marL="0" rtl="0" algn="l">
              <a:spcBef>
                <a:spcPts val="333"/>
              </a:spcBef>
              <a:spcAft>
                <a:spcPts val="0"/>
              </a:spcAft>
              <a:buClr>
                <a:schemeClr val="dk1"/>
              </a:buClr>
              <a:buSzPct val="100000"/>
              <a:buNone/>
            </a:pPr>
            <a:r>
              <a:rPr lang="en-US" sz="1800">
                <a:latin typeface="Bodoni"/>
                <a:ea typeface="Bodoni"/>
                <a:cs typeface="Bodoni"/>
                <a:sym typeface="Bodoni"/>
              </a:rPr>
              <a:t>mixed_list = [1, 'abc', True, 2.34, None] </a:t>
            </a:r>
            <a:endParaRPr/>
          </a:p>
          <a:p>
            <a:pPr indent="-237173" lvl="0" marL="342900" rtl="0" algn="l">
              <a:spcBef>
                <a:spcPts val="333"/>
              </a:spcBef>
              <a:spcAft>
                <a:spcPts val="0"/>
              </a:spcAft>
              <a:buClr>
                <a:schemeClr val="dk1"/>
              </a:buClr>
              <a:buSzPct val="100000"/>
              <a:buNone/>
            </a:pPr>
            <a:r>
              <a:t/>
            </a:r>
            <a:endParaRPr sz="1800"/>
          </a:p>
          <a:p>
            <a:pPr indent="-342900" lvl="0" marL="342900" rtl="0" algn="l">
              <a:spcBef>
                <a:spcPts val="333"/>
              </a:spcBef>
              <a:spcAft>
                <a:spcPts val="0"/>
              </a:spcAft>
              <a:buClr>
                <a:schemeClr val="dk1"/>
              </a:buClr>
              <a:buSzPct val="100000"/>
              <a:buChar char="•"/>
            </a:pPr>
            <a:r>
              <a:rPr lang="en-US" sz="1800"/>
              <a:t>A list can contain another list as its element:</a:t>
            </a:r>
            <a:endParaRPr/>
          </a:p>
          <a:p>
            <a:pPr indent="0" lvl="0" marL="0" rtl="0" algn="l">
              <a:spcBef>
                <a:spcPts val="333"/>
              </a:spcBef>
              <a:spcAft>
                <a:spcPts val="0"/>
              </a:spcAft>
              <a:buClr>
                <a:schemeClr val="dk1"/>
              </a:buClr>
              <a:buSzPct val="100000"/>
              <a:buNone/>
            </a:pPr>
            <a:r>
              <a:rPr lang="en-US" sz="1800">
                <a:latin typeface="Bodoni"/>
                <a:ea typeface="Bodoni"/>
                <a:cs typeface="Bodoni"/>
                <a:sym typeface="Bodoni"/>
              </a:rPr>
              <a:t>nested_list = [['a', 'b', 'c'], [1, 2, 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7" name="Shape 347"/>
        <p:cNvGrpSpPr/>
        <p:nvPr/>
      </p:nvGrpSpPr>
      <p:grpSpPr>
        <a:xfrm>
          <a:off x="0" y="0"/>
          <a:ext cx="0" cy="0"/>
          <a:chOff x="0" y="0"/>
          <a:chExt cx="0" cy="0"/>
        </a:xfrm>
      </p:grpSpPr>
      <p:sp>
        <p:nvSpPr>
          <p:cNvPr id="348" name="Google Shape;34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49" name="Google Shape;349;p50"/>
          <p:cNvSpPr txBox="1"/>
          <p:nvPr>
            <p:ph idx="1" type="body"/>
          </p:nvPr>
        </p:nvSpPr>
        <p:spPr>
          <a:xfrm>
            <a:off x="467544" y="692696"/>
            <a:ext cx="8229600" cy="5865515"/>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The elements of a list can be accessed via an </a:t>
            </a:r>
            <a:r>
              <a:rPr i="1" lang="en-US"/>
              <a:t>index</a:t>
            </a:r>
            <a:r>
              <a:rPr lang="en-US"/>
              <a:t>, or numeric representation of their position. Lists in Python are </a:t>
            </a:r>
            <a:r>
              <a:rPr i="1" lang="en-US"/>
              <a:t>zero-indexed</a:t>
            </a:r>
            <a:r>
              <a:rPr lang="en-US"/>
              <a:t> meaning that the first element in the list is at index 0, the second element is at index 1 and so on:</a:t>
            </a:r>
            <a:endParaRPr/>
          </a:p>
          <a:p>
            <a:pPr indent="0" lvl="0" marL="0" rtl="0" algn="l">
              <a:spcBef>
                <a:spcPts val="448"/>
              </a:spcBef>
              <a:spcAft>
                <a:spcPts val="0"/>
              </a:spcAft>
              <a:buClr>
                <a:schemeClr val="dk1"/>
              </a:buClr>
              <a:buSzPct val="100000"/>
              <a:buNone/>
            </a:pPr>
            <a:r>
              <a:rPr lang="en-US"/>
              <a:t>names = ['Alice', 'Bob', 'Craig', 'Diana', 'Eric'] print(names[0]) # Alice </a:t>
            </a:r>
            <a:endParaRPr/>
          </a:p>
          <a:p>
            <a:pPr indent="0" lvl="0" marL="0" rtl="0" algn="l">
              <a:spcBef>
                <a:spcPts val="448"/>
              </a:spcBef>
              <a:spcAft>
                <a:spcPts val="0"/>
              </a:spcAft>
              <a:buClr>
                <a:schemeClr val="dk1"/>
              </a:buClr>
              <a:buSzPct val="100000"/>
              <a:buNone/>
            </a:pPr>
            <a:r>
              <a:rPr lang="en-US"/>
              <a:t>print(names[2]) # Craig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Indices can also be negative which means counting from the end of the list (-1 being the index of the last element). So, using the list from the above example:</a:t>
            </a:r>
            <a:endParaRPr/>
          </a:p>
          <a:p>
            <a:pPr indent="0" lvl="0" marL="0" rtl="0" algn="l">
              <a:spcBef>
                <a:spcPts val="448"/>
              </a:spcBef>
              <a:spcAft>
                <a:spcPts val="0"/>
              </a:spcAft>
              <a:buClr>
                <a:schemeClr val="dk1"/>
              </a:buClr>
              <a:buSzPct val="100000"/>
              <a:buNone/>
            </a:pPr>
            <a:r>
              <a:rPr lang="en-US"/>
              <a:t>print(names[-1]) # Eric </a:t>
            </a:r>
            <a:endParaRPr/>
          </a:p>
          <a:p>
            <a:pPr indent="0" lvl="0" marL="0" rtl="0" algn="l">
              <a:spcBef>
                <a:spcPts val="448"/>
              </a:spcBef>
              <a:spcAft>
                <a:spcPts val="0"/>
              </a:spcAft>
              <a:buClr>
                <a:schemeClr val="dk1"/>
              </a:buClr>
              <a:buSzPct val="100000"/>
              <a:buNone/>
            </a:pPr>
            <a:r>
              <a:rPr lang="en-US"/>
              <a:t>print(names[-4]) # Bob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Lists are mutable, so you can change the values in a list:</a:t>
            </a:r>
            <a:endParaRPr/>
          </a:p>
          <a:p>
            <a:pPr indent="0" lvl="0" marL="0" rtl="0" algn="l">
              <a:spcBef>
                <a:spcPts val="448"/>
              </a:spcBef>
              <a:spcAft>
                <a:spcPts val="0"/>
              </a:spcAft>
              <a:buClr>
                <a:schemeClr val="dk1"/>
              </a:buClr>
              <a:buSzPct val="100000"/>
              <a:buNone/>
            </a:pPr>
            <a:r>
              <a:rPr lang="en-US"/>
              <a:t>names[0] = 'Ann' </a:t>
            </a:r>
            <a:endParaRPr/>
          </a:p>
          <a:p>
            <a:pPr indent="0" lvl="0" marL="0" rtl="0" algn="l">
              <a:spcBef>
                <a:spcPts val="448"/>
              </a:spcBef>
              <a:spcAft>
                <a:spcPts val="0"/>
              </a:spcAft>
              <a:buClr>
                <a:schemeClr val="dk1"/>
              </a:buClr>
              <a:buSzPct val="100000"/>
              <a:buNone/>
            </a:pPr>
            <a:r>
              <a:rPr lang="en-US"/>
              <a:t>print(names) </a:t>
            </a:r>
            <a:endParaRPr/>
          </a:p>
          <a:p>
            <a:pPr indent="0" lvl="0" marL="0" rtl="0" algn="l">
              <a:spcBef>
                <a:spcPts val="448"/>
              </a:spcBef>
              <a:spcAft>
                <a:spcPts val="0"/>
              </a:spcAft>
              <a:buClr>
                <a:schemeClr val="dk1"/>
              </a:buClr>
              <a:buSzPct val="100000"/>
              <a:buNone/>
            </a:pPr>
            <a:r>
              <a:rPr lang="en-US"/>
              <a:t># Outputs ['Ann', 'Bob', 'Craig', 'Diana', 'Eric']</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3" name="Shape 353"/>
        <p:cNvGrpSpPr/>
        <p:nvPr/>
      </p:nvGrpSpPr>
      <p:grpSpPr>
        <a:xfrm>
          <a:off x="0" y="0"/>
          <a:ext cx="0" cy="0"/>
          <a:chOff x="0" y="0"/>
          <a:chExt cx="0" cy="0"/>
        </a:xfrm>
      </p:grpSpPr>
      <p:sp>
        <p:nvSpPr>
          <p:cNvPr id="354" name="Google Shape;35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55" name="Google Shape;355;p51"/>
          <p:cNvSpPr txBox="1"/>
          <p:nvPr>
            <p:ph idx="1" type="body"/>
          </p:nvPr>
        </p:nvSpPr>
        <p:spPr>
          <a:xfrm>
            <a:off x="457200" y="260648"/>
            <a:ext cx="8229600" cy="6264696"/>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None/>
            </a:pPr>
            <a:r>
              <a:rPr lang="en-US"/>
              <a:t>Besides, it is possible to add and/or remove elements from a list:</a:t>
            </a:r>
            <a:endParaRPr/>
          </a:p>
          <a:p>
            <a:pPr indent="0" lvl="0" marL="0" rtl="0" algn="l">
              <a:spcBef>
                <a:spcPts val="448"/>
              </a:spcBef>
              <a:spcAft>
                <a:spcPts val="0"/>
              </a:spcAft>
              <a:buClr>
                <a:schemeClr val="dk1"/>
              </a:buClr>
              <a:buSzPct val="100000"/>
              <a:buNone/>
            </a:pPr>
            <a:r>
              <a:rPr lang="en-US"/>
              <a:t>Append object to end of list with L.append(object), returns None.</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names = ['Alice', 'Bob', 'Craig', 'Diana', 'Eric'] names.append("Sia") </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print(names) </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 Outputs ['Alice', 'Bob', 'Craig', 'Diana', 'Eric', 'Sia']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Add a new element to list at a specific index. L.insert(index, object)</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names.insert(1, "Nikki") </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print(names) </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 Outputs ['Alice', 'Nikki', 'Bob', 'Craig', 'Diana', 'Eric', 'Sia']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Remove the first occurrence of a value with L.remove(value), returns None</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names.remove("Bob") </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print(names) </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 Outputs ['Alice', 'Nikki', 'Craig', 'Diana', 'Eric', 'Sia']</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9" name="Shape 359"/>
        <p:cNvGrpSpPr/>
        <p:nvPr/>
      </p:nvGrpSpPr>
      <p:grpSpPr>
        <a:xfrm>
          <a:off x="0" y="0"/>
          <a:ext cx="0" cy="0"/>
          <a:chOff x="0" y="0"/>
          <a:chExt cx="0" cy="0"/>
        </a:xfrm>
      </p:grpSpPr>
      <p:sp>
        <p:nvSpPr>
          <p:cNvPr id="360" name="Google Shape;360;p52"/>
          <p:cNvSpPr txBox="1"/>
          <p:nvPr>
            <p:ph idx="1" type="body"/>
          </p:nvPr>
        </p:nvSpPr>
        <p:spPr>
          <a:xfrm>
            <a:off x="457200" y="332656"/>
            <a:ext cx="8229600" cy="6264696"/>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lang="en-US" sz="2800"/>
              <a:t>Get the index in the list of the first item whose value is x. It will show an error if there is no such item.</a:t>
            </a:r>
            <a:endParaRPr/>
          </a:p>
          <a:p>
            <a:pPr indent="0" lvl="0" marL="0" rtl="0" algn="l">
              <a:spcBef>
                <a:spcPts val="308"/>
              </a:spcBef>
              <a:spcAft>
                <a:spcPts val="0"/>
              </a:spcAft>
              <a:buClr>
                <a:schemeClr val="dk1"/>
              </a:buClr>
              <a:buSzPct val="100000"/>
              <a:buNone/>
            </a:pPr>
            <a:r>
              <a:rPr lang="en-US" sz="2800"/>
              <a:t>name.index("Alice") </a:t>
            </a:r>
            <a:endParaRPr/>
          </a:p>
          <a:p>
            <a:pPr indent="0" lvl="0" marL="0" rtl="0" algn="l">
              <a:spcBef>
                <a:spcPts val="308"/>
              </a:spcBef>
              <a:spcAft>
                <a:spcPts val="0"/>
              </a:spcAft>
              <a:buClr>
                <a:schemeClr val="dk1"/>
              </a:buClr>
              <a:buSzPct val="100000"/>
              <a:buNone/>
            </a:pPr>
            <a:r>
              <a:rPr lang="en-US" sz="2800"/>
              <a:t>0 </a:t>
            </a:r>
            <a:endParaRPr/>
          </a:p>
          <a:p>
            <a:pPr indent="-245110" lvl="0" marL="342900" rtl="0" algn="l">
              <a:spcBef>
                <a:spcPts val="308"/>
              </a:spcBef>
              <a:spcAft>
                <a:spcPts val="0"/>
              </a:spcAft>
              <a:buClr>
                <a:schemeClr val="dk1"/>
              </a:buClr>
              <a:buSzPct val="100000"/>
              <a:buNone/>
            </a:pPr>
            <a:r>
              <a:t/>
            </a:r>
            <a:endParaRPr sz="2800"/>
          </a:p>
          <a:p>
            <a:pPr indent="-342900" lvl="0" marL="342900" rtl="0" algn="l">
              <a:spcBef>
                <a:spcPts val="308"/>
              </a:spcBef>
              <a:spcAft>
                <a:spcPts val="0"/>
              </a:spcAft>
              <a:buClr>
                <a:schemeClr val="dk1"/>
              </a:buClr>
              <a:buSzPct val="100000"/>
              <a:buChar char="•"/>
            </a:pPr>
            <a:r>
              <a:rPr lang="en-US" sz="2800"/>
              <a:t>Count length of list</a:t>
            </a:r>
            <a:endParaRPr/>
          </a:p>
          <a:p>
            <a:pPr indent="0" lvl="0" marL="0" rtl="0" algn="l">
              <a:spcBef>
                <a:spcPts val="308"/>
              </a:spcBef>
              <a:spcAft>
                <a:spcPts val="0"/>
              </a:spcAft>
              <a:buClr>
                <a:schemeClr val="dk1"/>
              </a:buClr>
              <a:buSzPct val="100000"/>
              <a:buNone/>
            </a:pPr>
            <a:r>
              <a:rPr lang="en-US" sz="2800"/>
              <a:t>len(names) </a:t>
            </a:r>
            <a:endParaRPr/>
          </a:p>
          <a:p>
            <a:pPr indent="0" lvl="0" marL="0" rtl="0" algn="l">
              <a:spcBef>
                <a:spcPts val="308"/>
              </a:spcBef>
              <a:spcAft>
                <a:spcPts val="0"/>
              </a:spcAft>
              <a:buClr>
                <a:schemeClr val="dk1"/>
              </a:buClr>
              <a:buSzPct val="100000"/>
              <a:buNone/>
            </a:pPr>
            <a:r>
              <a:rPr lang="en-US" sz="2800"/>
              <a:t>6 </a:t>
            </a:r>
            <a:endParaRPr/>
          </a:p>
          <a:p>
            <a:pPr indent="-245110" lvl="0" marL="342900" rtl="0" algn="l">
              <a:spcBef>
                <a:spcPts val="308"/>
              </a:spcBef>
              <a:spcAft>
                <a:spcPts val="0"/>
              </a:spcAft>
              <a:buClr>
                <a:schemeClr val="dk1"/>
              </a:buClr>
              <a:buSzPct val="100000"/>
              <a:buNone/>
            </a:pPr>
            <a:r>
              <a:t/>
            </a:r>
            <a:endParaRPr sz="2800"/>
          </a:p>
          <a:p>
            <a:pPr indent="-342900" lvl="0" marL="342900" rtl="0" algn="l">
              <a:spcBef>
                <a:spcPts val="308"/>
              </a:spcBef>
              <a:spcAft>
                <a:spcPts val="0"/>
              </a:spcAft>
              <a:buClr>
                <a:schemeClr val="dk1"/>
              </a:buClr>
              <a:buSzPct val="100000"/>
              <a:buChar char="•"/>
            </a:pPr>
            <a:r>
              <a:rPr lang="en-US" sz="2800"/>
              <a:t>count occurrence of any item in list</a:t>
            </a:r>
            <a:endParaRPr/>
          </a:p>
          <a:p>
            <a:pPr indent="0" lvl="0" marL="0" rtl="0" algn="l">
              <a:spcBef>
                <a:spcPts val="308"/>
              </a:spcBef>
              <a:spcAft>
                <a:spcPts val="0"/>
              </a:spcAft>
              <a:buClr>
                <a:schemeClr val="dk1"/>
              </a:buClr>
              <a:buSzPct val="100000"/>
              <a:buNone/>
            </a:pPr>
            <a:r>
              <a:rPr lang="en-US" sz="2800"/>
              <a:t>a = [1, 1, 1, 2, 3, 4] </a:t>
            </a:r>
            <a:endParaRPr/>
          </a:p>
          <a:p>
            <a:pPr indent="0" lvl="0" marL="0" rtl="0" algn="l">
              <a:spcBef>
                <a:spcPts val="308"/>
              </a:spcBef>
              <a:spcAft>
                <a:spcPts val="0"/>
              </a:spcAft>
              <a:buClr>
                <a:schemeClr val="dk1"/>
              </a:buClr>
              <a:buSzPct val="100000"/>
              <a:buNone/>
            </a:pPr>
            <a:r>
              <a:rPr lang="en-US" sz="2800"/>
              <a:t>a.count(1) </a:t>
            </a:r>
            <a:endParaRPr/>
          </a:p>
          <a:p>
            <a:pPr indent="0" lvl="0" marL="0" rtl="0" algn="l">
              <a:spcBef>
                <a:spcPts val="308"/>
              </a:spcBef>
              <a:spcAft>
                <a:spcPts val="0"/>
              </a:spcAft>
              <a:buClr>
                <a:schemeClr val="dk1"/>
              </a:buClr>
              <a:buSzPct val="100000"/>
              <a:buNone/>
            </a:pPr>
            <a:r>
              <a:rPr lang="en-US" sz="2800"/>
              <a:t>3 </a:t>
            </a:r>
            <a:endParaRPr/>
          </a:p>
          <a:p>
            <a:pPr indent="-245110" lvl="0" marL="342900" rtl="0" algn="l">
              <a:spcBef>
                <a:spcPts val="308"/>
              </a:spcBef>
              <a:spcAft>
                <a:spcPts val="0"/>
              </a:spcAft>
              <a:buClr>
                <a:schemeClr val="dk1"/>
              </a:buClr>
              <a:buSzPct val="100000"/>
              <a:buNone/>
            </a:pPr>
            <a:r>
              <a:t/>
            </a:r>
            <a:endParaRPr sz="2800"/>
          </a:p>
          <a:p>
            <a:pPr indent="-342900" lvl="0" marL="342900" rtl="0" algn="l">
              <a:spcBef>
                <a:spcPts val="308"/>
              </a:spcBef>
              <a:spcAft>
                <a:spcPts val="0"/>
              </a:spcAft>
              <a:buClr>
                <a:schemeClr val="dk1"/>
              </a:buClr>
              <a:buSzPct val="100000"/>
              <a:buChar char="•"/>
            </a:pPr>
            <a:r>
              <a:rPr lang="en-US" sz="2800"/>
              <a:t>Reverse the list</a:t>
            </a:r>
            <a:endParaRPr/>
          </a:p>
          <a:p>
            <a:pPr indent="0" lvl="0" marL="0" rtl="0" algn="l">
              <a:spcBef>
                <a:spcPts val="308"/>
              </a:spcBef>
              <a:spcAft>
                <a:spcPts val="0"/>
              </a:spcAft>
              <a:buClr>
                <a:schemeClr val="dk1"/>
              </a:buClr>
              <a:buSzPct val="100000"/>
              <a:buNone/>
            </a:pPr>
            <a:r>
              <a:rPr lang="en-US" sz="2800"/>
              <a:t>a.reverse() </a:t>
            </a:r>
            <a:endParaRPr/>
          </a:p>
          <a:p>
            <a:pPr indent="0" lvl="0" marL="0" rtl="0" algn="l">
              <a:spcBef>
                <a:spcPts val="308"/>
              </a:spcBef>
              <a:spcAft>
                <a:spcPts val="0"/>
              </a:spcAft>
              <a:buClr>
                <a:schemeClr val="dk1"/>
              </a:buClr>
              <a:buSzPct val="100000"/>
              <a:buNone/>
            </a:pPr>
            <a:r>
              <a:rPr lang="en-US" sz="2800"/>
              <a:t>[4, 3, 2, 1, 1, 1] </a:t>
            </a:r>
            <a:endParaRPr/>
          </a:p>
          <a:p>
            <a:pPr indent="0" lvl="0" marL="0" rtl="0" algn="l">
              <a:spcBef>
                <a:spcPts val="308"/>
              </a:spcBef>
              <a:spcAft>
                <a:spcPts val="0"/>
              </a:spcAft>
              <a:buClr>
                <a:schemeClr val="dk1"/>
              </a:buClr>
              <a:buSzPct val="100000"/>
              <a:buNone/>
            </a:pPr>
            <a:r>
              <a:rPr lang="en-US" sz="2800"/>
              <a:t># or </a:t>
            </a:r>
            <a:endParaRPr/>
          </a:p>
          <a:p>
            <a:pPr indent="0" lvl="0" marL="0" rtl="0" algn="l">
              <a:spcBef>
                <a:spcPts val="308"/>
              </a:spcBef>
              <a:spcAft>
                <a:spcPts val="0"/>
              </a:spcAft>
              <a:buClr>
                <a:schemeClr val="dk1"/>
              </a:buClr>
              <a:buSzPct val="100000"/>
              <a:buNone/>
            </a:pPr>
            <a:r>
              <a:rPr lang="en-US" sz="2800"/>
              <a:t>a[::-1] </a:t>
            </a:r>
            <a:endParaRPr/>
          </a:p>
          <a:p>
            <a:pPr indent="0" lvl="0" marL="0" rtl="0" algn="l">
              <a:spcBef>
                <a:spcPts val="308"/>
              </a:spcBef>
              <a:spcAft>
                <a:spcPts val="0"/>
              </a:spcAft>
              <a:buClr>
                <a:schemeClr val="dk1"/>
              </a:buClr>
              <a:buSzPct val="100000"/>
              <a:buNone/>
            </a:pPr>
            <a:r>
              <a:rPr lang="en-US" sz="2800"/>
              <a:t>[4, 3, 2, 1, 1, 1] </a:t>
            </a:r>
            <a:endParaRPr/>
          </a:p>
          <a:p>
            <a:pPr indent="-245110" lvl="0" marL="342900" rtl="0" algn="l">
              <a:spcBef>
                <a:spcPts val="308"/>
              </a:spcBef>
              <a:spcAft>
                <a:spcPts val="0"/>
              </a:spcAft>
              <a:buClr>
                <a:schemeClr val="dk1"/>
              </a:buClr>
              <a:buSzPct val="100000"/>
              <a:buNone/>
            </a:pPr>
            <a:r>
              <a:t/>
            </a:r>
            <a:endParaRPr sz="2800"/>
          </a:p>
          <a:p>
            <a:pPr indent="-342900" lvl="0" marL="342900" rtl="0" algn="l">
              <a:spcBef>
                <a:spcPts val="308"/>
              </a:spcBef>
              <a:spcAft>
                <a:spcPts val="0"/>
              </a:spcAft>
              <a:buClr>
                <a:schemeClr val="dk1"/>
              </a:buClr>
              <a:buSzPct val="100000"/>
              <a:buChar char="•"/>
            </a:pPr>
            <a:r>
              <a:rPr lang="en-US" sz="2800"/>
              <a:t>Remove and return item at index (defaults to the last item) with L.pop([index]), returns the item</a:t>
            </a:r>
            <a:endParaRPr/>
          </a:p>
          <a:p>
            <a:pPr indent="0" lvl="0" marL="0" rtl="0" algn="l">
              <a:spcBef>
                <a:spcPts val="308"/>
              </a:spcBef>
              <a:spcAft>
                <a:spcPts val="0"/>
              </a:spcAft>
              <a:buClr>
                <a:schemeClr val="dk1"/>
              </a:buClr>
              <a:buSzPct val="100000"/>
              <a:buNone/>
            </a:pPr>
            <a:r>
              <a:rPr lang="en-US" sz="2800"/>
              <a:t>names.pop() # Outputs 'Sia' </a:t>
            </a:r>
            <a:endParaRPr/>
          </a:p>
          <a:p>
            <a:pPr indent="-245110" lvl="0" marL="342900" rtl="0" algn="l">
              <a:spcBef>
                <a:spcPts val="308"/>
              </a:spcBef>
              <a:spcAft>
                <a:spcPts val="0"/>
              </a:spcAft>
              <a:buClr>
                <a:schemeClr val="dk1"/>
              </a:buClr>
              <a:buSzPct val="100000"/>
              <a:buNone/>
            </a:pPr>
            <a:r>
              <a:t/>
            </a:r>
            <a:endParaRPr sz="2800"/>
          </a:p>
          <a:p>
            <a:pPr indent="-342900" lvl="0" marL="342900" rtl="0" algn="l">
              <a:spcBef>
                <a:spcPts val="308"/>
              </a:spcBef>
              <a:spcAft>
                <a:spcPts val="0"/>
              </a:spcAft>
              <a:buClr>
                <a:schemeClr val="dk1"/>
              </a:buClr>
              <a:buSzPct val="100000"/>
              <a:buChar char="•"/>
            </a:pPr>
            <a:r>
              <a:rPr lang="en-US" sz="2800"/>
              <a:t>You can iterate over the list elements like below:</a:t>
            </a:r>
            <a:endParaRPr/>
          </a:p>
          <a:p>
            <a:pPr indent="0" lvl="0" marL="0" rtl="0" algn="l">
              <a:spcBef>
                <a:spcPts val="308"/>
              </a:spcBef>
              <a:spcAft>
                <a:spcPts val="0"/>
              </a:spcAft>
              <a:buClr>
                <a:schemeClr val="dk1"/>
              </a:buClr>
              <a:buSzPct val="100000"/>
              <a:buNone/>
            </a:pPr>
            <a:r>
              <a:rPr lang="en-US" sz="2800">
                <a:latin typeface="Bodoni"/>
                <a:ea typeface="Bodoni"/>
                <a:cs typeface="Bodoni"/>
                <a:sym typeface="Bodoni"/>
              </a:rPr>
              <a:t>for element in my_list: </a:t>
            </a:r>
            <a:endParaRPr/>
          </a:p>
          <a:p>
            <a:pPr indent="0" lvl="0" marL="0" rtl="0" algn="l">
              <a:spcBef>
                <a:spcPts val="308"/>
              </a:spcBef>
              <a:spcAft>
                <a:spcPts val="0"/>
              </a:spcAft>
              <a:buClr>
                <a:schemeClr val="dk1"/>
              </a:buClr>
              <a:buSzPct val="100000"/>
              <a:buNone/>
            </a:pPr>
            <a:r>
              <a:rPr lang="en-US" sz="2800">
                <a:latin typeface="Bodoni"/>
                <a:ea typeface="Bodoni"/>
                <a:cs typeface="Bodoni"/>
                <a:sym typeface="Bodoni"/>
              </a:rPr>
              <a:t>  print (element)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4" name="Shape 364"/>
        <p:cNvGrpSpPr/>
        <p:nvPr/>
      </p:nvGrpSpPr>
      <p:grpSpPr>
        <a:xfrm>
          <a:off x="0" y="0"/>
          <a:ext cx="0" cy="0"/>
          <a:chOff x="0" y="0"/>
          <a:chExt cx="0" cy="0"/>
        </a:xfrm>
      </p:grpSpPr>
      <p:sp>
        <p:nvSpPr>
          <p:cNvPr id="365" name="Google Shape;365;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Tuples</a:t>
            </a:r>
            <a:endParaRPr/>
          </a:p>
        </p:txBody>
      </p:sp>
      <p:sp>
        <p:nvSpPr>
          <p:cNvPr id="366" name="Google Shape;366;p53"/>
          <p:cNvSpPr txBox="1"/>
          <p:nvPr>
            <p:ph idx="1" type="body"/>
          </p:nvPr>
        </p:nvSpPr>
        <p:spPr>
          <a:xfrm>
            <a:off x="457200" y="1268760"/>
            <a:ext cx="8229600" cy="5256584"/>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A tuple is similar to a list except that it is fixed-length and immutable. So the values in the tuple cannot be changed nor the values be added to or removed from the tuple. Tuples are commonly used for small collections of values that will not need to change, such as an IP address and port. Tuples are represented with parentheses instead of square brackets:</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ip_address = ('10.20.30.40', 8080)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The same indexing rules for lists also apply to tuples. Tuples can also be nested and the values can be any valid Python valid.</a:t>
            </a:r>
            <a:endParaRPr/>
          </a:p>
          <a:p>
            <a:pPr indent="-342900" lvl="0" marL="342900" rtl="0" algn="l">
              <a:spcBef>
                <a:spcPts val="448"/>
              </a:spcBef>
              <a:spcAft>
                <a:spcPts val="0"/>
              </a:spcAft>
              <a:buClr>
                <a:schemeClr val="dk1"/>
              </a:buClr>
              <a:buSzPct val="100000"/>
              <a:buChar char="•"/>
            </a:pPr>
            <a:r>
              <a:rPr lang="en-US"/>
              <a:t>A tuple with only one member must be defined (note the comma) this way:</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one_member_tuple = ('Only member',) or</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one_member_tuple = 'Only member', # No brackets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or just using tuple syntax</a:t>
            </a:r>
            <a:endParaRPr/>
          </a:p>
          <a:p>
            <a:pPr indent="0" lvl="0" marL="0" rtl="0" algn="l">
              <a:spcBef>
                <a:spcPts val="448"/>
              </a:spcBef>
              <a:spcAft>
                <a:spcPts val="0"/>
              </a:spcAft>
              <a:buClr>
                <a:schemeClr val="dk1"/>
              </a:buClr>
              <a:buSzPct val="100000"/>
              <a:buNone/>
            </a:pPr>
            <a:r>
              <a:rPr lang="en-US">
                <a:latin typeface="Bodoni"/>
                <a:ea typeface="Bodoni"/>
                <a:cs typeface="Bodoni"/>
                <a:sym typeface="Bodoni"/>
              </a:rPr>
              <a:t>one_member_tuple = tuple(['Only member'])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0" name="Shape 370"/>
        <p:cNvGrpSpPr/>
        <p:nvPr/>
      </p:nvGrpSpPr>
      <p:grpSpPr>
        <a:xfrm>
          <a:off x="0" y="0"/>
          <a:ext cx="0" cy="0"/>
          <a:chOff x="0" y="0"/>
          <a:chExt cx="0" cy="0"/>
        </a:xfrm>
      </p:grpSpPr>
      <p:sp>
        <p:nvSpPr>
          <p:cNvPr id="371" name="Google Shape;371;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Dictionaries</a:t>
            </a:r>
            <a:endParaRPr/>
          </a:p>
        </p:txBody>
      </p:sp>
      <p:sp>
        <p:nvSpPr>
          <p:cNvPr id="372" name="Google Shape;372;p54"/>
          <p:cNvSpPr txBox="1"/>
          <p:nvPr>
            <p:ph idx="1" type="body"/>
          </p:nvPr>
        </p:nvSpPr>
        <p:spPr>
          <a:xfrm>
            <a:off x="457200" y="1600200"/>
            <a:ext cx="8229600" cy="4997152"/>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lang="en-US"/>
              <a:t>A dictionary in Python is a collection of key-value pairs. The dictionary is surrounded by curly braces. Each pair is separated by a comma and the key and value are separated by a colon. Here is an example:</a:t>
            </a:r>
            <a:endParaRPr/>
          </a:p>
          <a:p>
            <a:pPr indent="0" lvl="0" marL="0" rtl="0" algn="l">
              <a:spcBef>
                <a:spcPts val="352"/>
              </a:spcBef>
              <a:spcAft>
                <a:spcPts val="0"/>
              </a:spcAft>
              <a:buClr>
                <a:schemeClr val="dk1"/>
              </a:buClr>
              <a:buSzPct val="100000"/>
              <a:buNone/>
            </a:pPr>
            <a:r>
              <a:rPr lang="en-US"/>
              <a:t>state_capitals = { </a:t>
            </a:r>
            <a:endParaRPr/>
          </a:p>
          <a:p>
            <a:pPr indent="0" lvl="1" marL="457200" rtl="0" algn="l">
              <a:spcBef>
                <a:spcPts val="308"/>
              </a:spcBef>
              <a:spcAft>
                <a:spcPts val="0"/>
              </a:spcAft>
              <a:buClr>
                <a:schemeClr val="dk1"/>
              </a:buClr>
              <a:buSzPct val="100000"/>
              <a:buNone/>
            </a:pPr>
            <a:r>
              <a:rPr lang="en-US"/>
              <a:t>'Arkansas': 'Little Rock', </a:t>
            </a:r>
            <a:endParaRPr/>
          </a:p>
          <a:p>
            <a:pPr indent="0" lvl="1" marL="457200" rtl="0" algn="l">
              <a:spcBef>
                <a:spcPts val="308"/>
              </a:spcBef>
              <a:spcAft>
                <a:spcPts val="0"/>
              </a:spcAft>
              <a:buClr>
                <a:schemeClr val="dk1"/>
              </a:buClr>
              <a:buSzPct val="100000"/>
              <a:buNone/>
            </a:pPr>
            <a:r>
              <a:rPr lang="en-US"/>
              <a:t>'Colorado': 'Denver', </a:t>
            </a:r>
            <a:endParaRPr/>
          </a:p>
          <a:p>
            <a:pPr indent="0" lvl="1" marL="457200" rtl="0" algn="l">
              <a:spcBef>
                <a:spcPts val="308"/>
              </a:spcBef>
              <a:spcAft>
                <a:spcPts val="0"/>
              </a:spcAft>
              <a:buClr>
                <a:schemeClr val="dk1"/>
              </a:buClr>
              <a:buSzPct val="100000"/>
              <a:buNone/>
            </a:pPr>
            <a:r>
              <a:rPr lang="en-US"/>
              <a:t>'California': 'Sacramento',</a:t>
            </a:r>
            <a:endParaRPr/>
          </a:p>
          <a:p>
            <a:pPr indent="0" lvl="1" marL="457200" rtl="0" algn="l">
              <a:spcBef>
                <a:spcPts val="308"/>
              </a:spcBef>
              <a:spcAft>
                <a:spcPts val="0"/>
              </a:spcAft>
              <a:buClr>
                <a:schemeClr val="dk1"/>
              </a:buClr>
              <a:buSzPct val="100000"/>
              <a:buNone/>
            </a:pPr>
            <a:r>
              <a:rPr lang="en-US"/>
              <a:t>'Georgia': 'Atlanta' } </a:t>
            </a:r>
            <a:endParaRPr/>
          </a:p>
          <a:p>
            <a:pPr indent="0" lvl="0" marL="57150" rtl="0" algn="l">
              <a:spcBef>
                <a:spcPts val="352"/>
              </a:spcBef>
              <a:spcAft>
                <a:spcPts val="0"/>
              </a:spcAft>
              <a:buClr>
                <a:schemeClr val="dk1"/>
              </a:buClr>
              <a:buSzPct val="100000"/>
              <a:buNone/>
            </a:pPr>
            <a:r>
              <a:t/>
            </a:r>
            <a:endParaRPr/>
          </a:p>
          <a:p>
            <a:pPr indent="0" lvl="0" marL="57150" rtl="0" algn="l">
              <a:spcBef>
                <a:spcPts val="352"/>
              </a:spcBef>
              <a:spcAft>
                <a:spcPts val="0"/>
              </a:spcAft>
              <a:buClr>
                <a:schemeClr val="dk1"/>
              </a:buClr>
              <a:buSzPct val="100000"/>
              <a:buNone/>
            </a:pPr>
            <a:r>
              <a:rPr lang="en-US"/>
              <a:t>To get a value, refer to it by its key:</a:t>
            </a:r>
            <a:endParaRPr/>
          </a:p>
          <a:p>
            <a:pPr indent="0" lvl="0" marL="0" rtl="0" algn="l">
              <a:spcBef>
                <a:spcPts val="352"/>
              </a:spcBef>
              <a:spcAft>
                <a:spcPts val="0"/>
              </a:spcAft>
              <a:buClr>
                <a:schemeClr val="dk1"/>
              </a:buClr>
              <a:buSzPct val="100000"/>
              <a:buNone/>
            </a:pPr>
            <a:r>
              <a:rPr lang="en-US"/>
              <a:t>ca_capital = state_capitals['California']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You can also get all of the keys in a dictionary and then iterate over them:</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for k in state_capitals.keys():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  print('{} is the capital of {}'.format(state_capitals[k], k))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Dictionaries strongly resemble JSON syntax. The native json module in the Python standard library can be used to convert between JSON and dictionaries.</a:t>
            </a:r>
            <a:endParaRPr/>
          </a:p>
          <a:p>
            <a:pPr indent="-231140" lvl="0" marL="342900" rtl="0" algn="l">
              <a:spcBef>
                <a:spcPts val="352"/>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6" name="Shape 376"/>
        <p:cNvGrpSpPr/>
        <p:nvPr/>
      </p:nvGrpSpPr>
      <p:grpSpPr>
        <a:xfrm>
          <a:off x="0" y="0"/>
          <a:ext cx="0" cy="0"/>
          <a:chOff x="0" y="0"/>
          <a:chExt cx="0" cy="0"/>
        </a:xfrm>
      </p:grpSpPr>
      <p:sp>
        <p:nvSpPr>
          <p:cNvPr id="377" name="Google Shape;377;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set</a:t>
            </a:r>
            <a:endParaRPr/>
          </a:p>
        </p:txBody>
      </p:sp>
      <p:sp>
        <p:nvSpPr>
          <p:cNvPr id="378" name="Google Shape;378;p55"/>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lang="en-US"/>
              <a:t>A set is a collection of elements with no repeats and without insertion order but sorted order. They are used in situations where it is only important that some things are grouped together, and not what order they were included. For large groups of data, it is much faster to check whether or not an element is in a set than it is to do the same for a list.</a:t>
            </a:r>
            <a:endParaRPr/>
          </a:p>
          <a:p>
            <a:pPr indent="-342900" lvl="0" marL="342900" rtl="0" algn="l">
              <a:spcBef>
                <a:spcPts val="352"/>
              </a:spcBef>
              <a:spcAft>
                <a:spcPts val="0"/>
              </a:spcAft>
              <a:buClr>
                <a:schemeClr val="dk1"/>
              </a:buClr>
              <a:buSzPct val="100000"/>
              <a:buChar char="•"/>
            </a:pPr>
            <a:r>
              <a:rPr lang="en-US"/>
              <a:t>Defining a set is very similar to defining a dictionary:</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first_names = {'Adam', 'Beth', 'Charlie'}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Or you can build a set using an existing list:</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my_list = [1,2,3]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my_set = set(my_list)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Check membership of the set using in:</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if name in first_names: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  print(name)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You can iterate over a set exactly like a list, but remember: the values will be in a arbitrary, implementation-defined order.</a:t>
            </a:r>
            <a:endParaRPr/>
          </a:p>
          <a:p>
            <a:pPr indent="-231140" lvl="0" marL="342900" rtl="0" algn="l">
              <a:spcBef>
                <a:spcPts val="352"/>
              </a:spcBef>
              <a:spcAft>
                <a:spcPts val="0"/>
              </a:spcAft>
              <a:buClr>
                <a:schemeClr val="dk1"/>
              </a:buClr>
              <a:buSzPct val="100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2" name="Shape 382"/>
        <p:cNvGrpSpPr/>
        <p:nvPr/>
      </p:nvGrpSpPr>
      <p:grpSpPr>
        <a:xfrm>
          <a:off x="0" y="0"/>
          <a:ext cx="0" cy="0"/>
          <a:chOff x="0" y="0"/>
          <a:chExt cx="0" cy="0"/>
        </a:xfrm>
      </p:grpSpPr>
      <p:sp>
        <p:nvSpPr>
          <p:cNvPr id="383" name="Google Shape;383;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defaultdict</a:t>
            </a:r>
            <a:endParaRPr/>
          </a:p>
        </p:txBody>
      </p:sp>
      <p:sp>
        <p:nvSpPr>
          <p:cNvPr id="384" name="Google Shape;384;p56"/>
          <p:cNvSpPr txBox="1"/>
          <p:nvPr>
            <p:ph idx="1" type="body"/>
          </p:nvPr>
        </p:nvSpPr>
        <p:spPr>
          <a:xfrm>
            <a:off x="457200" y="1196752"/>
            <a:ext cx="8229600" cy="54006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sz="2900"/>
              <a:t>A defaultdict is a dictionary with a default value for keys, so that keys for which no value has been explicitly defined can be accessed without errors. defaultdict is especially useful when the values in the dictionary are collections (lists, dicts, etc) in the sense that it does not need to be initialized every time when a new key is used.</a:t>
            </a:r>
            <a:endParaRPr/>
          </a:p>
          <a:p>
            <a:pPr indent="-342900" lvl="0" marL="342900" rtl="0" algn="l">
              <a:spcBef>
                <a:spcPts val="406"/>
              </a:spcBef>
              <a:spcAft>
                <a:spcPts val="0"/>
              </a:spcAft>
              <a:buClr>
                <a:schemeClr val="dk1"/>
              </a:buClr>
              <a:buSzPct val="100000"/>
              <a:buChar char="•"/>
            </a:pPr>
            <a:r>
              <a:rPr lang="en-US" sz="2900"/>
              <a:t>A defaultdict will never raise a KeyError. Any key that does not exist gets the default value returned.</a:t>
            </a:r>
            <a:endParaRPr/>
          </a:p>
          <a:p>
            <a:pPr indent="-342900" lvl="0" marL="342900" rtl="0" algn="l">
              <a:spcBef>
                <a:spcPts val="406"/>
              </a:spcBef>
              <a:spcAft>
                <a:spcPts val="0"/>
              </a:spcAft>
              <a:buClr>
                <a:schemeClr val="dk1"/>
              </a:buClr>
              <a:buSzPct val="100000"/>
              <a:buChar char="•"/>
            </a:pPr>
            <a:r>
              <a:rPr lang="en-US" sz="2900"/>
              <a:t>For example, consider the following dictionary</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If we try to access a non-existent key, python returns us an error as follows</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Let us try with a defaultdict. It can be found in the collections module.</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p:txBody>
      </p:sp>
      <p:pic>
        <p:nvPicPr>
          <p:cNvPr id="385" name="Google Shape;385;p56"/>
          <p:cNvPicPr preferRelativeResize="0"/>
          <p:nvPr/>
        </p:nvPicPr>
        <p:blipFill rotWithShape="1">
          <a:blip r:embed="rId3">
            <a:alphaModFix/>
          </a:blip>
          <a:srcRect b="0" l="0" r="0" t="0"/>
          <a:stretch/>
        </p:blipFill>
        <p:spPr>
          <a:xfrm>
            <a:off x="3275856" y="3284984"/>
            <a:ext cx="2286000" cy="1152525"/>
          </a:xfrm>
          <a:prstGeom prst="rect">
            <a:avLst/>
          </a:prstGeom>
          <a:noFill/>
          <a:ln>
            <a:noFill/>
          </a:ln>
        </p:spPr>
      </p:pic>
      <p:pic>
        <p:nvPicPr>
          <p:cNvPr id="386" name="Google Shape;386;p56"/>
          <p:cNvPicPr preferRelativeResize="0"/>
          <p:nvPr/>
        </p:nvPicPr>
        <p:blipFill rotWithShape="1">
          <a:blip r:embed="rId4">
            <a:alphaModFix/>
          </a:blip>
          <a:srcRect b="0" l="0" r="0" t="0"/>
          <a:stretch/>
        </p:blipFill>
        <p:spPr>
          <a:xfrm>
            <a:off x="3275856" y="4725144"/>
            <a:ext cx="4162425" cy="1285875"/>
          </a:xfrm>
          <a:prstGeom prst="rect">
            <a:avLst/>
          </a:prstGeom>
          <a:noFill/>
          <a:ln>
            <a:noFill/>
          </a:ln>
        </p:spPr>
      </p:pic>
      <p:pic>
        <p:nvPicPr>
          <p:cNvPr id="387" name="Google Shape;387;p56"/>
          <p:cNvPicPr preferRelativeResize="0"/>
          <p:nvPr/>
        </p:nvPicPr>
        <p:blipFill rotWithShape="1">
          <a:blip r:embed="rId5">
            <a:alphaModFix/>
          </a:blip>
          <a:srcRect b="0" l="0" r="0" t="0"/>
          <a:stretch/>
        </p:blipFill>
        <p:spPr>
          <a:xfrm>
            <a:off x="3311369" y="6226718"/>
            <a:ext cx="3543300" cy="5429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1" name="Shape 391"/>
        <p:cNvGrpSpPr/>
        <p:nvPr/>
      </p:nvGrpSpPr>
      <p:grpSpPr>
        <a:xfrm>
          <a:off x="0" y="0"/>
          <a:ext cx="0" cy="0"/>
          <a:chOff x="0" y="0"/>
          <a:chExt cx="0" cy="0"/>
        </a:xfrm>
      </p:grpSpPr>
      <p:sp>
        <p:nvSpPr>
          <p:cNvPr id="392" name="Google Shape;392;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93" name="Google Shape;393;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What we did here is to set a default value (</a:t>
            </a:r>
            <a:r>
              <a:rPr b="1" lang="en-US"/>
              <a:t>Boston</a:t>
            </a:r>
            <a:r>
              <a:rPr lang="en-US"/>
              <a:t>) in case the give key does not exist. Now populate the dict as before:</a:t>
            </a:r>
            <a:endParaRPr/>
          </a:p>
          <a:p>
            <a:pPr indent="-170180" lvl="0" marL="342900" rtl="0" algn="l">
              <a:spcBef>
                <a:spcPts val="544"/>
              </a:spcBef>
              <a:spcAft>
                <a:spcPts val="0"/>
              </a:spcAft>
              <a:buClr>
                <a:schemeClr val="dk1"/>
              </a:buClr>
              <a:buSzPct val="100000"/>
              <a:buNone/>
            </a:pPr>
            <a:r>
              <a:t/>
            </a:r>
            <a:endParaRPr/>
          </a:p>
          <a:p>
            <a:pPr indent="-170180" lvl="0" marL="342900" rtl="0" algn="l">
              <a:spcBef>
                <a:spcPts val="544"/>
              </a:spcBef>
              <a:spcAft>
                <a:spcPts val="0"/>
              </a:spcAft>
              <a:buClr>
                <a:schemeClr val="dk1"/>
              </a:buClr>
              <a:buSzPct val="100000"/>
              <a:buNone/>
            </a:pPr>
            <a:r>
              <a:t/>
            </a:r>
            <a:endParaRPr/>
          </a:p>
          <a:p>
            <a:pPr indent="-342900" lvl="0" marL="342900" rtl="0" algn="l">
              <a:spcBef>
                <a:spcPts val="544"/>
              </a:spcBef>
              <a:spcAft>
                <a:spcPts val="0"/>
              </a:spcAft>
              <a:buClr>
                <a:schemeClr val="dk1"/>
              </a:buClr>
              <a:buSzPct val="100000"/>
              <a:buChar char="•"/>
            </a:pPr>
            <a:r>
              <a:rPr lang="en-US"/>
              <a:t>If we try to access the dict with a non-existent key, python will return us the default value i.e. Boston</a:t>
            </a:r>
            <a:endParaRPr/>
          </a:p>
          <a:p>
            <a:pPr indent="-170180" lvl="0" marL="342900" rtl="0" algn="l">
              <a:spcBef>
                <a:spcPts val="544"/>
              </a:spcBef>
              <a:spcAft>
                <a:spcPts val="0"/>
              </a:spcAft>
              <a:buClr>
                <a:schemeClr val="dk1"/>
              </a:buClr>
              <a:buSzPct val="100000"/>
              <a:buNone/>
            </a:pPr>
            <a:r>
              <a:t/>
            </a:r>
            <a:endParaRPr/>
          </a:p>
          <a:p>
            <a:pPr indent="-342900" lvl="0" marL="342900" rtl="0" algn="l">
              <a:spcBef>
                <a:spcPts val="544"/>
              </a:spcBef>
              <a:spcAft>
                <a:spcPts val="0"/>
              </a:spcAft>
              <a:buClr>
                <a:schemeClr val="dk1"/>
              </a:buClr>
              <a:buSzPct val="100000"/>
              <a:buChar char="•"/>
            </a:pPr>
            <a:r>
              <a:rPr lang="en-US"/>
              <a:t>and returns the created values for existing key just like a normal dictionary</a:t>
            </a:r>
            <a:endParaRPr/>
          </a:p>
          <a:p>
            <a:pPr indent="-170180" lvl="0" marL="342900" rtl="0" algn="l">
              <a:spcBef>
                <a:spcPts val="544"/>
              </a:spcBef>
              <a:spcAft>
                <a:spcPts val="0"/>
              </a:spcAft>
              <a:buClr>
                <a:schemeClr val="dk1"/>
              </a:buClr>
              <a:buSzPct val="100000"/>
              <a:buNone/>
            </a:pPr>
            <a:r>
              <a:t/>
            </a:r>
            <a:endParaRPr/>
          </a:p>
          <a:p>
            <a:pPr indent="-170180" lvl="0" marL="342900" rtl="0" algn="l">
              <a:spcBef>
                <a:spcPts val="544"/>
              </a:spcBef>
              <a:spcAft>
                <a:spcPts val="0"/>
              </a:spcAft>
              <a:buClr>
                <a:schemeClr val="dk1"/>
              </a:buClr>
              <a:buSzPct val="100000"/>
              <a:buNone/>
            </a:pPr>
            <a:r>
              <a:t/>
            </a:r>
            <a:endParaRPr/>
          </a:p>
          <a:p>
            <a:pPr indent="-170180" lvl="0" marL="342900" rtl="0" algn="l">
              <a:spcBef>
                <a:spcPts val="544"/>
              </a:spcBef>
              <a:spcAft>
                <a:spcPts val="0"/>
              </a:spcAft>
              <a:buClr>
                <a:schemeClr val="dk1"/>
              </a:buClr>
              <a:buSzPct val="100000"/>
              <a:buNone/>
            </a:pPr>
            <a:r>
              <a:t/>
            </a:r>
            <a:endParaRPr/>
          </a:p>
        </p:txBody>
      </p:sp>
      <p:pic>
        <p:nvPicPr>
          <p:cNvPr id="394" name="Google Shape;394;p57"/>
          <p:cNvPicPr preferRelativeResize="0"/>
          <p:nvPr/>
        </p:nvPicPr>
        <p:blipFill rotWithShape="1">
          <a:blip r:embed="rId3">
            <a:alphaModFix/>
          </a:blip>
          <a:srcRect b="0" l="0" r="0" t="0"/>
          <a:stretch/>
        </p:blipFill>
        <p:spPr>
          <a:xfrm>
            <a:off x="2843808" y="2619375"/>
            <a:ext cx="3257550" cy="809625"/>
          </a:xfrm>
          <a:prstGeom prst="rect">
            <a:avLst/>
          </a:prstGeom>
          <a:noFill/>
          <a:ln>
            <a:noFill/>
          </a:ln>
        </p:spPr>
      </p:pic>
      <p:pic>
        <p:nvPicPr>
          <p:cNvPr id="395" name="Google Shape;395;p57"/>
          <p:cNvPicPr preferRelativeResize="0"/>
          <p:nvPr/>
        </p:nvPicPr>
        <p:blipFill rotWithShape="1">
          <a:blip r:embed="rId4">
            <a:alphaModFix/>
          </a:blip>
          <a:srcRect b="0" l="0" r="0" t="0"/>
          <a:stretch/>
        </p:blipFill>
        <p:spPr>
          <a:xfrm>
            <a:off x="2843808" y="4437112"/>
            <a:ext cx="2457450" cy="542925"/>
          </a:xfrm>
          <a:prstGeom prst="rect">
            <a:avLst/>
          </a:prstGeom>
          <a:noFill/>
          <a:ln>
            <a:noFill/>
          </a:ln>
        </p:spPr>
      </p:pic>
      <p:pic>
        <p:nvPicPr>
          <p:cNvPr id="396" name="Google Shape;396;p57"/>
          <p:cNvPicPr preferRelativeResize="0"/>
          <p:nvPr/>
        </p:nvPicPr>
        <p:blipFill rotWithShape="1">
          <a:blip r:embed="rId5">
            <a:alphaModFix/>
          </a:blip>
          <a:srcRect b="0" l="0" r="0" t="0"/>
          <a:stretch/>
        </p:blipFill>
        <p:spPr>
          <a:xfrm>
            <a:off x="2843808" y="5877272"/>
            <a:ext cx="2438400" cy="5143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0" name="Shape 400"/>
        <p:cNvGrpSpPr/>
        <p:nvPr/>
      </p:nvGrpSpPr>
      <p:grpSpPr>
        <a:xfrm>
          <a:off x="0" y="0"/>
          <a:ext cx="0" cy="0"/>
          <a:chOff x="0" y="0"/>
          <a:chExt cx="0" cy="0"/>
        </a:xfrm>
      </p:grpSpPr>
      <p:sp>
        <p:nvSpPr>
          <p:cNvPr id="401" name="Google Shape;401;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Interactive input</a:t>
            </a:r>
            <a:endParaRPr/>
          </a:p>
        </p:txBody>
      </p:sp>
      <p:sp>
        <p:nvSpPr>
          <p:cNvPr id="402" name="Google Shape;402;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t>To get input from the user, use the input function (</a:t>
            </a:r>
            <a:r>
              <a:rPr b="1" lang="en-US" sz="1800"/>
              <a:t>note</a:t>
            </a:r>
            <a:r>
              <a:rPr lang="en-US" sz="1800"/>
              <a:t>: in Python 2.x, the function is called raw_input instead, although Python 2.x has its own version of </a:t>
            </a:r>
            <a:r>
              <a:rPr lang="en-US" sz="1800" u="sng">
                <a:solidFill>
                  <a:schemeClr val="hlink"/>
                </a:solidFill>
                <a:hlinkClick r:id="rId3"/>
              </a:rPr>
              <a:t>input</a:t>
            </a:r>
            <a:r>
              <a:rPr lang="en-US" sz="1800"/>
              <a:t> that is completely different):</a:t>
            </a:r>
            <a:endParaRPr/>
          </a:p>
        </p:txBody>
      </p:sp>
      <p:pic>
        <p:nvPicPr>
          <p:cNvPr id="403" name="Google Shape;403;p58"/>
          <p:cNvPicPr preferRelativeResize="0"/>
          <p:nvPr/>
        </p:nvPicPr>
        <p:blipFill rotWithShape="1">
          <a:blip r:embed="rId4">
            <a:alphaModFix/>
          </a:blip>
          <a:srcRect b="0" l="0" r="0" t="0"/>
          <a:stretch/>
        </p:blipFill>
        <p:spPr>
          <a:xfrm>
            <a:off x="1354076" y="2852936"/>
            <a:ext cx="6524625" cy="2943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7" name="Shape 407"/>
        <p:cNvGrpSpPr/>
        <p:nvPr/>
      </p:nvGrpSpPr>
      <p:grpSpPr>
        <a:xfrm>
          <a:off x="0" y="0"/>
          <a:ext cx="0" cy="0"/>
          <a:chOff x="0" y="0"/>
          <a:chExt cx="0" cy="0"/>
        </a:xfrm>
      </p:grpSpPr>
      <p:sp>
        <p:nvSpPr>
          <p:cNvPr id="408" name="Google Shape;408;p59"/>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lang="en-US"/>
              <a:t>The remainder of this example will be using Python 3 syntax.</a:t>
            </a:r>
            <a:endParaRPr/>
          </a:p>
          <a:p>
            <a:pPr indent="-342900" lvl="0" marL="342900" rtl="0" algn="l">
              <a:spcBef>
                <a:spcPts val="352"/>
              </a:spcBef>
              <a:spcAft>
                <a:spcPts val="0"/>
              </a:spcAft>
              <a:buClr>
                <a:schemeClr val="dk1"/>
              </a:buClr>
              <a:buSzPct val="100000"/>
              <a:buChar char="•"/>
            </a:pPr>
            <a:r>
              <a:rPr lang="en-US"/>
              <a:t>The function takes a string argument, which displays it as a prompt and returns a string. The above code provides a prompt, waiting for the user to input.</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name = input("What is your name? ")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 Out: What is your name?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If the user types "Bob" and hits enter, the variable name will be assigned to the string "Bob":</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name = input("What is your name? ")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 Out: What is your name? Bob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print(name) #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Out: Bob </a:t>
            </a:r>
            <a:endParaRPr/>
          </a:p>
          <a:p>
            <a:pPr indent="-231140" lvl="0" marL="342900" rtl="0" algn="l">
              <a:spcBef>
                <a:spcPts val="352"/>
              </a:spcBef>
              <a:spcAft>
                <a:spcPts val="0"/>
              </a:spcAft>
              <a:buClr>
                <a:schemeClr val="dk1"/>
              </a:buClr>
              <a:buSzPct val="100000"/>
              <a:buNone/>
            </a:pPr>
            <a:r>
              <a:t/>
            </a:r>
            <a:endParaRPr/>
          </a:p>
          <a:p>
            <a:pPr indent="-342900" lvl="0" marL="342900" rtl="0" algn="l">
              <a:spcBef>
                <a:spcPts val="352"/>
              </a:spcBef>
              <a:spcAft>
                <a:spcPts val="0"/>
              </a:spcAft>
              <a:buClr>
                <a:schemeClr val="dk1"/>
              </a:buClr>
              <a:buSzPct val="100000"/>
              <a:buChar char="•"/>
            </a:pPr>
            <a:r>
              <a:rPr lang="en-US"/>
              <a:t>Note that the input is always of type str, which is important if you want the user to enter numbers. Therefore, you need to convert the str before trying to use it as a number:</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x = input("Write a number:")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 Out: Write a number: 10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x / 2 # Out: TypeError: unsupported operand type(s) for /: 'str' and 'int'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float(x) / 2 </a:t>
            </a:r>
            <a:endParaRPr/>
          </a:p>
          <a:p>
            <a:pPr indent="0" lvl="0" marL="0" rtl="0" algn="l">
              <a:spcBef>
                <a:spcPts val="352"/>
              </a:spcBef>
              <a:spcAft>
                <a:spcPts val="0"/>
              </a:spcAft>
              <a:buClr>
                <a:schemeClr val="dk1"/>
              </a:buClr>
              <a:buSzPct val="100000"/>
              <a:buNone/>
            </a:pPr>
            <a:r>
              <a:rPr lang="en-US">
                <a:latin typeface="Bodoni"/>
                <a:ea typeface="Bodoni"/>
                <a:cs typeface="Bodoni"/>
                <a:sym typeface="Bodoni"/>
              </a:rPr>
              <a:t># Out: 5.0</a:t>
            </a:r>
            <a:endParaRPr/>
          </a:p>
        </p:txBody>
      </p:sp>
    </p:spTree>
  </p:cSld>
  <p:clrMapOvr>
    <a:masterClrMapping/>
  </p:clrMapOvr>
</p:sld>
</file>

<file path=ppt/theme/theme1.xml><?xml version="1.0" encoding="utf-8"?>
<a:theme xmlns:a="http://schemas.openxmlformats.org/drawingml/2006/main" xmlns:r="http://schemas.openxmlformats.org/officeDocument/2006/relationships" name="ชุดรูปแบบของ Office">
  <a:themeElements>
    <a:clrScheme name="สำนักงาน">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