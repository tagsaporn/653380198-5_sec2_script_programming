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Kani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Kani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Kanit-italic.fntdata"/><Relationship Id="rId12" Type="http://schemas.openxmlformats.org/officeDocument/2006/relationships/slide" Target="slides/slide7.xml"/><Relationship Id="rId34" Type="http://schemas.openxmlformats.org/officeDocument/2006/relationships/font" Target="fonts/Kani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Kani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27" name="Google Shape;27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30" name="Google Shape;30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31" name="Google Shape;31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32" name="Google Shape;32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" name="Google Shape;10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13" name="Google Shape;13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reg-mirror.kku.ac.th/registrar/class_info_2.asp?backto=teach_ttable&amp;option=1&amp;courseid=3613669182&amp;normalURL=pagefrom%3Dduty%5Fteach%2Easp%26officerid%3D2831%26officername%3D%25BA%25D8%25AD%25B7%25C3%25D1%25BE%25C2%25EC%2B%2B%25E4%25C7%25A4%25D3%26acadyear%3D2566%26rnd%3D45096%2E3299884259%26firstday%3D19%2F06%2F2566%26backto%3D%26%26semester%3D1&amp;acadyear=2566&amp;semester=1" TargetMode="External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notebooklm.google.com/notebook/936b004b-36ff-41cf-ab75-49adc6949af0" TargetMode="External"/><Relationship Id="rId4" Type="http://schemas.openxmlformats.org/officeDocument/2006/relationships/hyperlink" Target="https://www.netacad.com/courses/python-essentials-1?courseLang=en-US&amp;instance_id=deb64081-e4f6-42f4-bb07-408410f4fdb9" TargetMode="External"/><Relationship Id="rId5" Type="http://schemas.openxmlformats.org/officeDocument/2006/relationships/hyperlink" Target="mailto:boonsup@kku.ac.th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5400"/>
              <a:buFont typeface="Kanit"/>
              <a:buNone/>
            </a:pPr>
            <a:r>
              <a:rPr b="1" i="0" lang="en-US" u="sng">
                <a:solidFill>
                  <a:schemeClr val="hlink"/>
                </a:solidFill>
                <a:latin typeface="Kanit"/>
                <a:ea typeface="Kanit"/>
                <a:cs typeface="Kanit"/>
                <a:sym typeface="Kanit"/>
                <a:hlinkClick r:id="rId3"/>
              </a:rPr>
              <a:t>CP352301</a:t>
            </a:r>
            <a:br>
              <a:rPr lang="en-US"/>
            </a:br>
            <a:r>
              <a:rPr lang="en-US"/>
              <a:t> Script Programming</a:t>
            </a:r>
            <a:endParaRPr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3040394" y="4148576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/>
              <a:t>1/2026 (self-paced on-site, hybrid, online, project-based learning with certificate)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Assistant Professor Boonsup Waikham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3233057" y="457199"/>
            <a:ext cx="33092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$ vim helloworld.py #!/usr/bin/python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# Hello world python program print "Hello World!"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088570" y="2438400"/>
            <a:ext cx="30915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$ whereis python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$ which python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262744" y="4016829"/>
            <a:ext cx="313508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$ python helloworld.py Hello World!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( or 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$ chmod u+x helloworld.py $ ./helloworld.py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Hello World!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040394" y="6031655"/>
            <a:ext cx="35019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rPr>
              <a:t>$ python -c 'print "Hello World!"'</a:t>
            </a:r>
            <a:endParaRPr/>
          </a:p>
        </p:txBody>
      </p:sp>
      <p:pic>
        <p:nvPicPr>
          <p:cNvPr descr="https://encrypted-tbn0.gstatic.com/images?q=tbn:ANd9GcTRSYcxTvKaXI-K5r_Tiffg5rZ9oXrsRMHvOxa6ODRihWnUcOpw7JFv9Ra8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0683" y="5412530"/>
            <a:ext cx="36861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Administrative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Onsite Class: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SEC1: Onsite WED  15:00-19.000	SC6601B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SEC2: Onsite TUE    8:30-12:30	SC9226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sz="1800">
              <a:solidFill>
                <a:srgbClr val="000000"/>
              </a:solidFill>
              <a:highlight>
                <a:srgbClr val="C0D0FF"/>
              </a:highlight>
              <a:latin typeface="Kanit"/>
              <a:ea typeface="Kanit"/>
              <a:cs typeface="Kanit"/>
              <a:sym typeface="Kanit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Makeup Class: All SEC – SAT 13.00-15.00 (if any)</a:t>
            </a:r>
            <a:endParaRPr b="1" sz="1800">
              <a:solidFill>
                <a:srgbClr val="000000"/>
              </a:solidFill>
              <a:highlight>
                <a:srgbClr val="C0D0FF"/>
              </a:highlight>
              <a:latin typeface="Kanit"/>
              <a:ea typeface="Kanit"/>
              <a:cs typeface="Kanit"/>
              <a:sym typeface="Kanit"/>
            </a:endParaRPr>
          </a:p>
          <a:p>
            <a:pPr indent="0" lvl="0" marL="571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Online Self-Study: Codecademy.com [Python2]   and Netacad.com [Script Programming 1/26 [Python Essentials 1]  and Script Programming 2/26 [Python Essentials 2]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Certificate exams</a:t>
            </a:r>
            <a:endParaRPr/>
          </a:p>
          <a:p>
            <a:pPr indent="-204470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Communications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NotebookLM: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https://notebooklm.google.com/notebook/936b004b-36ff-41cf-ab75-49adc6949af0</a:t>
            </a:r>
            <a:endParaRPr/>
          </a:p>
          <a:p>
            <a:pPr indent="-204470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  <a:p>
            <a:pPr indent="-204470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CISCO NETACAD: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https://www.netacad.com/courses/python-essentials-1?courseLang=en-US&amp;instance_id=deb64081-e4f6-42f4-bb07-408410f4fdb9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Instructor: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boonsup@kku.ac.th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1524000" y="924909"/>
            <a:ext cx="3373821" cy="3457903"/>
          </a:xfrm>
          <a:prstGeom prst="ellipse">
            <a:avLst/>
          </a:prstGeom>
          <a:gradFill>
            <a:gsLst>
              <a:gs pos="0">
                <a:srgbClr val="C6493F"/>
              </a:gs>
              <a:gs pos="78000">
                <a:srgbClr val="B22A17"/>
              </a:gs>
              <a:gs pos="100000">
                <a:srgbClr val="B22A17"/>
              </a:gs>
            </a:gsLst>
            <a:lin ang="5400000" scaled="0"/>
          </a:gradFill>
          <a:ln>
            <a:noFill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Basics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4340772" y="1077309"/>
            <a:ext cx="3373821" cy="3457903"/>
          </a:xfrm>
          <a:prstGeom prst="ellipse">
            <a:avLst/>
          </a:prstGeom>
          <a:gradFill>
            <a:gsLst>
              <a:gs pos="0">
                <a:srgbClr val="96C543"/>
              </a:gs>
              <a:gs pos="78000">
                <a:srgbClr val="83B021"/>
              </a:gs>
              <a:gs pos="100000">
                <a:srgbClr val="83B021"/>
              </a:gs>
            </a:gsLst>
            <a:lin ang="5400000" scaled="0"/>
          </a:gradFill>
          <a:ln>
            <a:noFill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1524000" y="924909"/>
            <a:ext cx="3373821" cy="3457903"/>
          </a:xfrm>
          <a:prstGeom prst="ellipse">
            <a:avLst/>
          </a:prstGeom>
          <a:gradFill>
            <a:gsLst>
              <a:gs pos="0">
                <a:srgbClr val="C6493F"/>
              </a:gs>
              <a:gs pos="78000">
                <a:srgbClr val="B22A17"/>
              </a:gs>
              <a:gs pos="100000">
                <a:srgbClr val="B22A17"/>
              </a:gs>
            </a:gsLst>
            <a:lin ang="5400000" scaled="0"/>
          </a:gradFill>
          <a:ln>
            <a:noFill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Basics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>
            <a:off x="2795904" y="3559895"/>
            <a:ext cx="3373821" cy="3457903"/>
          </a:xfrm>
          <a:prstGeom prst="ellipse">
            <a:avLst/>
          </a:prstGeom>
          <a:solidFill>
            <a:schemeClr val="accent3"/>
          </a:solidFill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Final Project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4340772" y="1077309"/>
            <a:ext cx="3373821" cy="3457903"/>
          </a:xfrm>
          <a:prstGeom prst="ellipse">
            <a:avLst/>
          </a:prstGeom>
          <a:gradFill>
            <a:gsLst>
              <a:gs pos="0">
                <a:srgbClr val="96C543"/>
              </a:gs>
              <a:gs pos="78000">
                <a:srgbClr val="83B021"/>
              </a:gs>
              <a:gs pos="100000">
                <a:srgbClr val="83B021"/>
              </a:gs>
            </a:gsLst>
            <a:lin ang="5400000" scaled="0"/>
          </a:gradFill>
          <a:ln>
            <a:noFill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1524000" y="924909"/>
            <a:ext cx="3373821" cy="3457903"/>
          </a:xfrm>
          <a:prstGeom prst="ellipse">
            <a:avLst/>
          </a:prstGeom>
          <a:gradFill>
            <a:gsLst>
              <a:gs pos="0">
                <a:srgbClr val="C6493F"/>
              </a:gs>
              <a:gs pos="78000">
                <a:srgbClr val="B22A17"/>
              </a:gs>
              <a:gs pos="100000">
                <a:srgbClr val="B22A17"/>
              </a:gs>
            </a:gsLst>
            <a:lin ang="5400000" scaled="0"/>
          </a:gradFill>
          <a:ln>
            <a:noFill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Basics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Course Topics 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677334" y="2160589"/>
            <a:ext cx="5679923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US" sz="2300"/>
              <a:t>Part I Basics of  Python (Lec &amp; Online Self-Study)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Intro to Python and Syntax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Strings and Console Output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Conditionals and Control Flow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Functions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Lists &amp; Dictionaries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Lists and Functions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Loops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Advanced Topics in Python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Introduction to Classes</a:t>
            </a:r>
            <a:endParaRPr/>
          </a:p>
          <a:p>
            <a:pPr indent="-342925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900"/>
              <a:t>File Input and Output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5388428" y="2721428"/>
            <a:ext cx="557348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 II Application of Python (Labs &amp; Experiments)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Systems and Network Programming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for modern apps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 III Project and Conclusions (Ideas and Execution)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mini Project (midterm)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term Project (final)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Final Exam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0" y="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Lec &amp; Lab Schedule: </a:t>
            </a:r>
            <a:r>
              <a:rPr lang="en-US" sz="3200"/>
              <a:t>Part I Script Language</a:t>
            </a:r>
            <a:endParaRPr/>
          </a:p>
        </p:txBody>
      </p:sp>
      <p:pic>
        <p:nvPicPr>
          <p:cNvPr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92" y="489857"/>
            <a:ext cx="1134433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Explain the common characteristics of Script Programming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Apply regular expressions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Author shell scripts to automate workflows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Utilize Python to solve a wide range of text processing problems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Understand differences in a web based environment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Employ Python as a object-oriented scripting language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Define and develop Networked applications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Course Policies</a:t>
            </a: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On-Time Submission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Late Assignments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Extra Credit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Questions, Concerns and Special Needs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Classroom Etiquette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Arriving on time and remaining for the full lecture.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Not talking during lecture.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Setting cell phones to vibrate or silent.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Using laptops in an appropriate manner.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Course Requirements</a:t>
            </a:r>
            <a:endParaRPr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Class Participation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Reading &amp; Watching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Self-Learning and Practicing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 Presentation and Projects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Quizzes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Final Exam for Course Certificate (CISCO &amp; CODECADEMY)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Responsibility for the class learning experience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Individual responsibility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Share code and example for any Python-related topics from Stack Overflow or other source to the facebook group.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Discuss the code and example.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Troubleshoot any problem/issue related to the code and example.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 responsibility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Share tutorial for the topics learned during the week from any sources to the facebook group.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Help the online tutorial session via Skype, Team viewer, etc after class.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Troubleshoot any problem/issue related to the tutorial.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Why do you want to study this course?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is an elective course. No one is forced to study.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course might be useful in the future.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I’m really interested in script program in general and Python in specific.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later tends to achieve for higher mark.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Programming is “Life Skill.”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Study in new environments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Difficult time of life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Privacy and financials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Programming requires multiple skills</a:t>
            </a:r>
            <a:endParaRPr/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Basic syntax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Semantics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Structure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Style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“Programming is learn by programming.”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Grading</a:t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Onsite Class Attendance  (LEC &amp; LAB) 10%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Certificate and Portfolio 5%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Individual Online Study 15%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 Assignment 20%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Rotating Role-Based Sprints 15%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Role-Specialized Final Project 15%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Final Exam 20%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Academic Integrity</a:t>
            </a:r>
            <a:endParaRPr/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assumes the responsibilities of an active participant in KKU's scholarly community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everyone's academic work and behavior are held to the highest standards of honesty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Cheating, fabrication, plagiarism, and helping others to commit these acts are all forms of academic dishonesty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Academic misconduct could result in suspension or dismissal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Projects and Presentation</a:t>
            </a:r>
            <a:endParaRPr/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Individual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It is never permitted to copy code from someone else nor to provide code to someone else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Violations of academic integrity</a:t>
            </a:r>
            <a:endParaRPr/>
          </a:p>
        </p:txBody>
      </p:sp>
      <p:sp>
        <p:nvSpPr>
          <p:cNvPr id="264" name="Google Shape;264;p3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Emailing code in whole or in part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Instant Messaging code in whole or in part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Posting or obtaining code in whole or in part on the web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Using free or open-source software without prior consent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Not taking the appropriate measures to protect your source code, including: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Placing your code in a public directory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Failing to lock your screen when away from your computer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Allowing someone to copy code from your monitor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Penalty</a:t>
            </a:r>
            <a:endParaRPr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 project grade of zero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 10% reduction of your semester average (one letter grade)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Actions reported to the Academic Conduct Committee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Suggestions for Success</a:t>
            </a:r>
            <a:endParaRPr/>
          </a:p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Start early on the programming assignments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Start early on the programming assignments in order to get hands on experience in the language before each quiz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Ask questions. Attend lecture and ask questions to things you are unsure about. Feel free to also ask questions during office hours or via email.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Learn by yourself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Language immersion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A&amp;F Grade Checklists</a:t>
            </a:r>
            <a:endParaRPr/>
          </a:p>
        </p:txBody>
      </p:sp>
      <p:sp>
        <p:nvSpPr>
          <p:cNvPr id="282" name="Google Shape;282;p40"/>
          <p:cNvSpPr txBox="1"/>
          <p:nvPr>
            <p:ph idx="1" type="body"/>
          </p:nvPr>
        </p:nvSpPr>
        <p:spPr>
          <a:xfrm>
            <a:off x="677334" y="2160589"/>
            <a:ext cx="8634306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‘A’ Grade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Familiar with Python and Other script languages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Use/apply Python for various types of applications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Create/Innovate the-state-of-the-art applications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‘F’ Grade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Unfamiliar with Python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Not be able to use/apply Python for any application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Cannot create/innovate an application</a:t>
            </a:r>
            <a:endParaRPr/>
          </a:p>
          <a:p>
            <a:pPr indent="-204470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Learning Target Grade</a:t>
            </a:r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Minimal target: only to pass (D grade)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Online Self-study: Codecademy.com &gt;= 90% or Datacamp.com &gt;= 90%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Online Exam Netacad.com &gt;= 50% (minimum requirement for CISCO certificate)</a:t>
            </a:r>
            <a:endParaRPr/>
          </a:p>
          <a:p>
            <a:pPr indent="-210566" lvl="1" marL="74295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Maximal target: requirement (A grade)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Minimal target plus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Onsite attendance &gt;80%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Weekly Assignment &gt; 80%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BS and AD LAB &gt; 80%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Mini project &gt; 80%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Final project &gt; 80%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Final exam &gt; 80%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Study Materials</a:t>
            </a:r>
            <a:endParaRPr/>
          </a:p>
        </p:txBody>
      </p:sp>
      <p:sp>
        <p:nvSpPr>
          <p:cNvPr id="294" name="Google Shape;294;p4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Lecture: Think Python, 1</a:t>
            </a:r>
            <a:r>
              <a:rPr baseline="30000" lang="en-US"/>
              <a:t>st</a:t>
            </a:r>
            <a:r>
              <a:rPr lang="en-US"/>
              <a:t> Ebook Reference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Presentation, mini-Project and final-Project: Group Ebook Reference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Online Self-Study: codecademy.com, datacamp.com, etc.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Tools for better achievement</a:t>
            </a:r>
            <a:endParaRPr/>
          </a:p>
        </p:txBody>
      </p:sp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At least, but not limited to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Generative AI: Gemini, Chatgpt, DeepSeek, Copilot, etc. for knowledge acquisition and programming assistant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Colab for basic labs, weekly assignments and activities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Github for more complex and advanced labs and collaborations, porfolio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NotebookLM for course summarization and weekly activities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Python IDE: Sublime, CMD, Anaconda, Jupyter Notebook, Docker, VS Code, etc. for CLI and GUI development environment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520581" y="4493572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306" name="Google Shape;306;p44"/>
          <p:cNvSpPr txBox="1"/>
          <p:nvPr>
            <p:ph idx="1" type="body"/>
          </p:nvPr>
        </p:nvSpPr>
        <p:spPr>
          <a:xfrm>
            <a:off x="520581" y="6367915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Good luck!</a:t>
            </a:r>
            <a:endParaRPr/>
          </a:p>
        </p:txBody>
      </p:sp>
      <p:pic>
        <p:nvPicPr>
          <p:cNvPr id="307" name="Google Shape;3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345" y="0"/>
            <a:ext cx="7848649" cy="5786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